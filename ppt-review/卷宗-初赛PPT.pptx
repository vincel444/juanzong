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svg" ContentType="image/svg+xml"/>
  <Default Extension="png" ContentType="image/png"/>
  <Override PartName="/ppt/slides/slide1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0.xml" ContentType="application/vnd.openxmlformats-officedocument.presentationml.slide+xml"/>
  <Override PartName="/ppt/slides/slide12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tableStyles.xml" ContentType="application/vnd.openxmlformats-officedocument.presentationml.tableStyles+xml"/>
  <Override PartName="/ppt/slides/slide7.xml" ContentType="application/vnd.openxmlformats-officedocument.presentationml.slide+xml"/>
  <Override PartName="/ppt/viewProps.xml" ContentType="application/vnd.openxmlformats-officedocument.presentationml.viewPro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9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8.xml" ContentType="application/vnd.openxmlformats-officedocument.presentationml.slide+xml"/>
  <Override PartName="/ppt/theme/theme2.xml" ContentType="application/vnd.openxmlformats-officedocument.theme+xml"/>
</Types>
</file>

<file path=_rels/.rels><?xml version="1.0" encoding="UTF-8" standalone="yes"?><Relationships xmlns="http://schemas.openxmlformats.org/package/2006/relationships"><Relationship Id="rId0" Type="http://schemas.openxmlformats.org/officeDocument/2006/relationships/officeDocument" Target="ppt/presentation.xml" /><Relationship Id="rId2" Type="http://schemas.openxmlformats.org/officeDocument/2006/relationships/extended-properties" Target="docProps/app.xml" /><Relationship Id="rId1" Type="http://schemas.openxmlformats.org/package/2006/relationships/metadata/core-properties" Target="docProps/core.xml" /></Relationships>
</file>

<file path=ppt/presentation.xml><?xml version="1.0" encoding="utf-8"?>
<p:presentation xmlns:p="http://schemas.openxmlformats.org/presentationml/2006/main" xmlns:r="http://schemas.openxmlformats.org/officeDocument/2006/relationships" xmlns:a="http://schemas.openxmlformats.org/drawingml/2006/main" firstSlideNum="1">
  <p:sldMasterIdLst>
    <p:sldMasterId id="2147483648" r:id="rId0"/>
  </p:sldMasterIdLst>
  <p:notesMasterIdLst>
    <p:notesMasterId r:id="rId13"/>
  </p:notesMasterIdLst>
  <p:sldIdLst>
    <p:sldId id="256" r:id="rId1"/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uri="{E76CE94A-603C-4142-B9EB-6D1370010A27}"/>
    <p:ext uri="{D31A062A-798A-4329-ABDD-BBA856620510}"/>
    <p:ext uri="{FD5EFAAD-0ECE-453E-9831-46B23BE46B34}"/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 xmlns:a="http://schemas.openxmlformats.org/drawing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7" d="100"/>
          <a:sy n="127" d="100"/>
        </p:scale>
        <p:origin x="53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4" Type="http://schemas.openxmlformats.org/officeDocument/2006/relationships/presProps" Target="presProps.xml" /><Relationship Id="rId0" Type="http://schemas.openxmlformats.org/officeDocument/2006/relationships/slideMaster" Target="slideMasters/slideMaster1.xml" /><Relationship Id="rId1" Type="http://schemas.openxmlformats.org/officeDocument/2006/relationships/slide" Target="slides/slide1.xml" /><Relationship Id="rId4" Type="http://schemas.openxmlformats.org/officeDocument/2006/relationships/slide" Target="slides/slide4.xml" /><Relationship Id="rId10" Type="http://schemas.openxmlformats.org/officeDocument/2006/relationships/slide" Target="slides/slide10.xml" /><Relationship Id="rId12" Type="http://schemas.openxmlformats.org/officeDocument/2006/relationships/slide" Target="slides/slide12.xml" /><Relationship Id="rId11" Type="http://schemas.openxmlformats.org/officeDocument/2006/relationships/slide" Target="slides/slide11.xml" /><Relationship Id="rId13" Type="http://schemas.openxmlformats.org/officeDocument/2006/relationships/notesMaster" Target="notesMasters/notesMaster1.xml" /><Relationship Id="rId15" Type="http://schemas.openxmlformats.org/officeDocument/2006/relationships/tableStyles" Target="tableStyles.xml" /><Relationship Id="rId16" Type="http://schemas.openxmlformats.org/officeDocument/2006/relationships/viewProps" Target="viewProps.xml" /><Relationship Id="rId2" Type="http://schemas.openxmlformats.org/officeDocument/2006/relationships/slide" Target="slides/slide2.xml" /><Relationship Id="rId3" Type="http://schemas.openxmlformats.org/officeDocument/2006/relationships/slide" Target="slides/slide3.xml" /><Relationship Id="rId9" Type="http://schemas.openxmlformats.org/officeDocument/2006/relationships/slide" Target="slides/slide9.xml" /><Relationship Id="rId5" Type="http://schemas.openxmlformats.org/officeDocument/2006/relationships/slide" Target="slides/slide5.xml" /><Relationship Id="rId6" Type="http://schemas.openxmlformats.org/officeDocument/2006/relationships/slide" Target="slides/slide6.xml" /><Relationship Id="rId7" Type="http://schemas.openxmlformats.org/officeDocument/2006/relationships/slide" Target="slides/slide7.xml" /><Relationship Id="rId8" Type="http://schemas.openxmlformats.org/officeDocument/2006/relationships/slide" Target="slides/slide8.xml" /></Relationships>
</file>

<file path=ppt/notesMasters/_rels/notesMaster1.xml.rels><?xml version="1.0" encoding="UTF-8" standalone="yes"?><Relationships xmlns="http://schemas.openxmlformats.org/package/2006/relationships"><Relationship Id="rId0" Type="http://schemas.openxmlformats.org/officeDocument/2006/relationships/theme" Target="../theme/theme2.xml" /></Relationships>
</file>

<file path=ppt/notesMasters/notesMaster1.xml><?xml version="1.0" encoding="utf-8"?>
<p:notesMaster xmlns:p="http://schemas.openxmlformats.org/presentationml/2006/main" xmlns:a="http://schemas.openxmlformats.org/drawing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slideLayout1.xml><?xml version="1.0" encoding="utf-8"?>
<p:sldLayout xmlns:p="http://schemas.openxmlformats.org/presentationml/2006/main" xmlns:a="http://schemas.openxmlformats.org/drawing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theme" Target="../theme/theme1.xml" /></Relationships>
</file>

<file path=ppt/slideMasters/slideMaster1.xml><?xml version="1.0" encoding="utf-8"?>
<p:sldMaster xmlns:p="http://schemas.openxmlformats.org/presentationml/2006/main" xmlns:r="http://schemas.openxmlformats.org/officeDocument/2006/relationships" xmlns:a="http://schemas.openxmlformats.org/drawing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0"/>
  </p:sldLayoutIdLst>
  <p:hf sldNum="0" hdr="0" ftr="0" dt="0"/>
  <p:txStyles>
    <p:titleStyle>
      <a:lvl1pPr algn="ctr" defTabSz="914400" rtl="0" eaLnBrk="1" latinLnBrk="0" hangingPunct="1">
        <a:spcBef>
          <a:spcPct val="1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1.png" /></Relationships>
</file>

<file path=ppt/slides/_rels/slide2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3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15.png" /></Relationships>
</file>

<file path=ppt/slides/_rels/slide4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16.svg" /></Relationships>
</file>

<file path=ppt/slides/_rels/slide5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17.svg" /></Relationships>
</file>

<file path=ppt/slides/_rels/slide6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7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18.png" /></Relationships>
</file>

<file path=ppt/slides/_rels/slide8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19.png" /></Relationships>
</file>

<file path=ppt/slides/_rels/slide9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10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7" Type="http://schemas.openxmlformats.org/officeDocument/2006/relationships/image" Target="media/image8.svg" /><Relationship Id="rId1" Type="http://schemas.openxmlformats.org/officeDocument/2006/relationships/image" Target="media/image2.svg" /><Relationship Id="rId6" Type="http://schemas.openxmlformats.org/officeDocument/2006/relationships/image" Target="media/image7.svg" /><Relationship Id="rId2" Type="http://schemas.openxmlformats.org/officeDocument/2006/relationships/image" Target="media/image3.svg" /><Relationship Id="rId3" Type="http://schemas.openxmlformats.org/officeDocument/2006/relationships/image" Target="media/image4.svg" /><Relationship Id="rId4" Type="http://schemas.openxmlformats.org/officeDocument/2006/relationships/image" Target="media/image5.svg" /><Relationship Id="rId5" Type="http://schemas.openxmlformats.org/officeDocument/2006/relationships/image" Target="media/image6.svg" /></Relationships>
</file>

<file path=ppt/slides/_rels/slide1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5" Type="http://schemas.openxmlformats.org/officeDocument/2006/relationships/image" Target="media/image13.svg" /><Relationship Id="rId2" Type="http://schemas.openxmlformats.org/officeDocument/2006/relationships/image" Target="media/image10.svg" /><Relationship Id="rId1" Type="http://schemas.openxmlformats.org/officeDocument/2006/relationships/image" Target="media/image9.svg" /><Relationship Id="rId3" Type="http://schemas.openxmlformats.org/officeDocument/2006/relationships/image" Target="media/image11.svg" /><Relationship Id="rId4" Type="http://schemas.openxmlformats.org/officeDocument/2006/relationships/image" Target="media/image12.svg" /></Relationships>
</file>

<file path=ppt/slides/_rels/slide12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14.svg" /></Relationships>
</file>

<file path=ppt/slides/slide1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p>
            <a:pPr/>
            <a:endParaRPr/>
          </a:p>
        </p:txBody>
      </p:sp>
      <p:pic>
        <p:nvPicPr>
          <p:cNvPr id="3" name=""/>
          <p:cNvPicPr>
            <a:picLocks noChangeAspect="1"/>
          </p:cNvPicPr>
          <p:nvPr/>
        </p:nvPicPr>
        <p:blipFill>
          <a:blip r:embed="rId1"/>
          <a:srcRect l="0" t="6265" r="0" b="6265"/>
          <a:stretch>
            <a:fillRect/>
          </a:stretch>
        </p:blipFill>
        <p:spPr>
          <a:xfrm rot="0" flipH="0" flipV="0">
            <a:off x="0" y="0"/>
            <a:ext cx="12192000" cy="6858000"/>
          </a:xfrm>
          <a:prstGeom prst="rect">
            <a:avLst/>
          </a:prstGeom>
          <a:ln/>
        </p:spPr>
      </p:pic>
      <p:sp>
        <p:nvSpPr>
          <p:cNvPr id="4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F172A">
                  <a:alpha val="96000"/>
                </a:srgbClr>
              </a:gs>
              <a:gs pos="34000">
                <a:srgbClr val="0F172A">
                  <a:alpha val="82000"/>
                </a:srgbClr>
              </a:gs>
              <a:gs pos="62000">
                <a:srgbClr val="0F172A">
                  <a:alpha val="35000"/>
                </a:srgbClr>
              </a:gs>
              <a:gs pos="100000">
                <a:srgbClr val="0F172A">
                  <a:alpha val="5000"/>
                </a:srgbClr>
              </a:gs>
            </a:gsLst>
            <a:lin ang="0" scaled="1"/>
          </a:gradFill>
          <a:ln/>
        </p:spPr>
        <p:txBody>
          <a:bodyPr/>
          <a:p>
            <a:pPr/>
            <a:endParaRPr/>
          </a:p>
        </p:txBody>
      </p:sp>
      <p:sp>
        <p:nvSpPr>
          <p:cNvPr id="5" name="" descr="{&quot;isTemplate&quot;:true,&quot;type&quot;:&quot;text&quot;}"/>
          <p:cNvSpPr txBox="1"/>
          <p:nvPr/>
        </p:nvSpPr>
        <p:spPr>
          <a:xfrm rot="0" flipH="0" flipV="0">
            <a:off x="685800" y="1314450"/>
            <a:ext cx="59055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spc="150">
                <a:solidFill>
                  <a:srgbClr val="06B6D4"/>
                </a:solidFill>
                <a:latin typeface="Microsoft YaHei"/>
                <a:ea typeface="Microsoft YaHei"/>
              </a:rPr>
              <a:t>2026 iFLYTEK AI </a:t>
            </a:r>
            <a:r>
              <a:rPr lang="zh-CN" sz="1125" spc="150">
                <a:solidFill>
                  <a:srgbClr val="06B6D4"/>
                </a:solidFill>
                <a:latin typeface="Microsoft YaHei"/>
                <a:ea typeface="Microsoft YaHei"/>
              </a:rPr>
              <a:t>开发者大赛</a:t>
            </a:r>
            <a:r>
              <a:rPr lang="en-US" sz="1125" spc="150">
                <a:solidFill>
                  <a:srgbClr val="06B6D4"/>
                </a:solidFill>
                <a:latin typeface="Microsoft YaHei"/>
                <a:ea typeface="Microsoft YaHei"/>
              </a:rPr>
              <a:t> · SPARK-X2.5 </a:t>
            </a:r>
            <a:r>
              <a:rPr lang="zh-CN" sz="1125" spc="150">
                <a:solidFill>
                  <a:srgbClr val="06B6D4"/>
                </a:solidFill>
                <a:latin typeface="Microsoft YaHei"/>
                <a:ea typeface="Microsoft YaHei"/>
              </a:rPr>
              <a:t>端侧模型创新挑战赛</a:t>
            </a:r>
            <a:endParaRPr/>
          </a:p>
        </p:txBody>
      </p:sp>
      <p:sp>
        <p:nvSpPr>
          <p:cNvPr id="6" name="" descr="{&quot;isTemplate&quot;:true,&quot;type&quot;:&quot;text&quot;}"/>
          <p:cNvSpPr txBox="1"/>
          <p:nvPr/>
        </p:nvSpPr>
        <p:spPr>
          <a:xfrm rot="0" flipH="0" flipV="0">
            <a:off x="685800" y="1638300"/>
            <a:ext cx="5905500" cy="1057275"/>
          </a:xfrm>
          <a:prstGeom prst="rect"/>
        </p:spPr>
        <p:txBody>
          <a:bodyPr wrap="none" lIns="0" tIns="0" rIns="0" bIns="0"/>
          <a:p>
            <a:pPr>
              <a:lnSpc>
                <a:spcPct val="105000"/>
              </a:lnSpc>
            </a:pPr>
            <a:r>
              <a:rPr lang="zh-CN" sz="6600" b="1">
                <a:gradFill>
                  <a:gsLst>
                    <a:gs pos="0">
                      <a:srgbClr val="3B82F6"/>
                    </a:gs>
                    <a:gs pos="100000">
                      <a:srgbClr val="06B6D4"/>
                    </a:gs>
                  </a:gsLst>
                  <a:lin ang="2700000" scaled="1"/>
                </a:gradFill>
                <a:latin typeface="Microsoft YaHei"/>
                <a:ea typeface="Microsoft YaHei"/>
              </a:rPr>
              <a:t>卷宗</a:t>
            </a:r>
            <a:endParaRPr/>
          </a:p>
        </p:txBody>
      </p:sp>
      <p:sp>
        <p:nvSpPr>
          <p:cNvPr id="7" name="" descr="{&quot;isTemplate&quot;:true,&quot;type&quot;:&quot;text&quot;}"/>
          <p:cNvSpPr txBox="1"/>
          <p:nvPr/>
        </p:nvSpPr>
        <p:spPr>
          <a:xfrm rot="0" flipH="0" flipV="0">
            <a:off x="685800" y="2809875"/>
            <a:ext cx="5905500" cy="514350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2550" b="1">
                <a:solidFill>
                  <a:srgbClr val="F1F5F9"/>
                </a:solidFill>
                <a:latin typeface="Microsoft YaHei"/>
                <a:ea typeface="Microsoft YaHei"/>
              </a:rPr>
              <a:t>端侧长文档智能审阅工作台</a:t>
            </a:r>
            <a:endParaRPr/>
          </a:p>
        </p:txBody>
      </p:sp>
      <p:sp>
        <p:nvSpPr>
          <p:cNvPr id="8" name="" descr="{&quot;isTemplate&quot;:true,&quot;type&quot;:&quot;text&quot;}"/>
          <p:cNvSpPr txBox="1"/>
          <p:nvPr/>
        </p:nvSpPr>
        <p:spPr>
          <a:xfrm rot="0" flipH="0" flipV="0">
            <a:off x="685800" y="3533775"/>
            <a:ext cx="5905500" cy="781050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1500">
                <a:solidFill>
                  <a:srgbClr val="94A3B8"/>
                </a:solidFill>
                <a:latin typeface="Microsoft YaHei"/>
                <a:ea typeface="Microsoft YaHei"/>
              </a:rPr>
              <a:t>消费级</a:t>
            </a:r>
            <a:r>
              <a:rPr lang="en-US" sz="1500">
                <a:solidFill>
                  <a:srgbClr val="94A3B8"/>
                </a:solidFill>
                <a:latin typeface="Microsoft YaHei"/>
                <a:ea typeface="Microsoft YaHei"/>
              </a:rPr>
              <a:t> 8GB </a:t>
            </a:r>
            <a:r>
              <a:rPr lang="zh-CN" sz="1500">
                <a:solidFill>
                  <a:srgbClr val="94A3B8"/>
                </a:solidFill>
                <a:latin typeface="Microsoft YaHei"/>
                <a:ea typeface="Microsoft YaHei"/>
              </a:rPr>
              <a:t>显存笔记本，完全离线装下整卷资料</a:t>
            </a:r>
            <a:endParaRPr/>
          </a:p>
          <a:p>
            <a:pPr>
              <a:lnSpc>
                <a:spcPct val="170000"/>
              </a:lnSpc>
            </a:pPr>
            <a:r>
              <a:rPr lang="zh-CN" sz="1500">
                <a:solidFill>
                  <a:srgbClr val="94A3B8"/>
                </a:solidFill>
                <a:latin typeface="Microsoft YaHei"/>
                <a:ea typeface="Microsoft YaHei"/>
              </a:rPr>
              <a:t>每句话回查原文页码，</a:t>
            </a:r>
            <a:r>
              <a:rPr lang="en-US" sz="1500">
                <a:solidFill>
                  <a:srgbClr val="94A3B8"/>
                </a:solidFill>
                <a:latin typeface="Microsoft YaHei"/>
                <a:ea typeface="Microsoft YaHei"/>
              </a:rPr>
              <a:t>10 </a:t>
            </a:r>
            <a:r>
              <a:rPr lang="zh-CN" sz="1500">
                <a:solidFill>
                  <a:srgbClr val="94A3B8"/>
                </a:solidFill>
                <a:latin typeface="Microsoft YaHei"/>
                <a:ea typeface="Microsoft YaHei"/>
              </a:rPr>
              <a:t>秒给出风险清单</a:t>
            </a:r>
            <a:endParaRPr/>
          </a:p>
        </p:txBody>
      </p:sp>
      <p:sp>
        <p:nvSpPr>
          <p:cNvPr id="9" name=""/>
          <p:cNvSpPr/>
          <p:nvPr/>
        </p:nvSpPr>
        <p:spPr>
          <a:xfrm rot="0" flipH="0" flipV="0">
            <a:off x="685800" y="4619625"/>
            <a:ext cx="1323975" cy="352425"/>
          </a:xfrm>
          <a:prstGeom prst="roundRect">
            <a:avLst>
              <a:gd name="adj" fmla="val 16216"/>
            </a:avLst>
          </a:prstGeom>
          <a:solidFill>
            <a:srgbClr val="3B82F6">
              <a:alpha val="12000"/>
            </a:srgbClr>
          </a:solidFill>
          <a:ln w="12700">
            <a:solidFill>
              <a:srgbClr val="3B82F6">
                <a:alpha val="5500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0" name="" descr="{&quot;isTemplate&quot;:true,&quot;type&quot;:&quot;text&quot;}"/>
          <p:cNvSpPr txBox="1"/>
          <p:nvPr/>
        </p:nvSpPr>
        <p:spPr>
          <a:xfrm rot="0" flipH="0" flipV="0">
            <a:off x="838200" y="4695825"/>
            <a:ext cx="101917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>
                <a:solidFill>
                  <a:srgbClr val="F1F5F9"/>
                </a:solidFill>
                <a:latin typeface="Microsoft YaHei"/>
                <a:ea typeface="Microsoft YaHei"/>
              </a:rPr>
              <a:t>8GB </a:t>
            </a:r>
            <a:r>
              <a:rPr lang="zh-CN" sz="1275">
                <a:solidFill>
                  <a:srgbClr val="F1F5F9"/>
                </a:solidFill>
                <a:latin typeface="Microsoft YaHei"/>
                <a:ea typeface="Microsoft YaHei"/>
              </a:rPr>
              <a:t>显存可跑</a:t>
            </a:r>
            <a:endParaRPr/>
          </a:p>
        </p:txBody>
      </p:sp>
      <p:sp>
        <p:nvSpPr>
          <p:cNvPr id="11" name=""/>
          <p:cNvSpPr/>
          <p:nvPr/>
        </p:nvSpPr>
        <p:spPr>
          <a:xfrm rot="0" flipH="0" flipV="0">
            <a:off x="2124075" y="4619625"/>
            <a:ext cx="1733550" cy="352425"/>
          </a:xfrm>
          <a:prstGeom prst="roundRect">
            <a:avLst>
              <a:gd name="adj" fmla="val 16216"/>
            </a:avLst>
          </a:prstGeom>
          <a:solidFill>
            <a:srgbClr val="3B82F6">
              <a:alpha val="12000"/>
            </a:srgbClr>
          </a:solidFill>
          <a:ln w="12700">
            <a:solidFill>
              <a:srgbClr val="3B82F6">
                <a:alpha val="5500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2" name="" descr="{&quot;isTemplate&quot;:true,&quot;type&quot;:&quot;text&quot;}"/>
          <p:cNvSpPr txBox="1"/>
          <p:nvPr/>
        </p:nvSpPr>
        <p:spPr>
          <a:xfrm rot="0" flipH="0" flipV="0">
            <a:off x="2276475" y="4695825"/>
            <a:ext cx="14287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>
                <a:solidFill>
                  <a:srgbClr val="F1F5F9"/>
                </a:solidFill>
                <a:latin typeface="Microsoft YaHei"/>
                <a:ea typeface="Microsoft YaHei"/>
              </a:rPr>
              <a:t>134 tok/s </a:t>
            </a:r>
            <a:r>
              <a:rPr lang="zh-CN" sz="1275">
                <a:solidFill>
                  <a:srgbClr val="F1F5F9"/>
                </a:solidFill>
                <a:latin typeface="Microsoft YaHei"/>
                <a:ea typeface="Microsoft YaHei"/>
              </a:rPr>
              <a:t>端侧推理</a:t>
            </a:r>
            <a:endParaRPr/>
          </a:p>
        </p:txBody>
      </p:sp>
      <p:sp>
        <p:nvSpPr>
          <p:cNvPr id="13" name=""/>
          <p:cNvSpPr/>
          <p:nvPr/>
        </p:nvSpPr>
        <p:spPr>
          <a:xfrm rot="0" flipH="0" flipV="0">
            <a:off x="3971925" y="4619625"/>
            <a:ext cx="1581150" cy="352425"/>
          </a:xfrm>
          <a:prstGeom prst="roundRect">
            <a:avLst>
              <a:gd name="adj" fmla="val 16216"/>
            </a:avLst>
          </a:prstGeom>
          <a:solidFill>
            <a:srgbClr val="06B6D4">
              <a:alpha val="12000"/>
            </a:srgbClr>
          </a:solidFill>
          <a:ln w="12700">
            <a:solidFill>
              <a:srgbClr val="06B6D4">
                <a:alpha val="5500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4" name="" descr="{&quot;isTemplate&quot;:true,&quot;type&quot;:&quot;text&quot;}"/>
          <p:cNvSpPr txBox="1"/>
          <p:nvPr/>
        </p:nvSpPr>
        <p:spPr>
          <a:xfrm rot="0" flipH="0" flipV="0">
            <a:off x="4124325" y="4695825"/>
            <a:ext cx="12763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>
                <a:solidFill>
                  <a:srgbClr val="F1F5F9"/>
                </a:solidFill>
                <a:latin typeface="Microsoft YaHei"/>
                <a:ea typeface="Microsoft YaHei"/>
              </a:rPr>
              <a:t>0 </a:t>
            </a:r>
            <a:r>
              <a:rPr lang="zh-CN" sz="1275">
                <a:solidFill>
                  <a:srgbClr val="F1F5F9"/>
                </a:solidFill>
                <a:latin typeface="Microsoft YaHei"/>
                <a:ea typeface="Microsoft YaHei"/>
              </a:rPr>
              <a:t>字节数据出设备</a:t>
            </a:r>
            <a:endParaRPr/>
          </a:p>
        </p:txBody>
      </p:sp>
      <p:sp>
        <p:nvSpPr>
          <p:cNvPr id="15" name="" descr="{&quot;isTemplate&quot;:true,&quot;type&quot;:&quot;text&quot;}"/>
          <p:cNvSpPr txBox="1"/>
          <p:nvPr/>
        </p:nvSpPr>
        <p:spPr>
          <a:xfrm rot="0" flipH="0" flipV="0">
            <a:off x="685800" y="6372225"/>
            <a:ext cx="14287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94A3B8"/>
                </a:solidFill>
                <a:latin typeface="Microsoft YaHei"/>
                <a:ea typeface="Microsoft YaHei"/>
              </a:rPr>
              <a:t>卷宗战队</a:t>
            </a:r>
            <a:r>
              <a:rPr lang="en-US" sz="1050">
                <a:solidFill>
                  <a:srgbClr val="94A3B8"/>
                </a:solidFill>
                <a:latin typeface="Microsoft YaHei"/>
                <a:ea typeface="Microsoft YaHei"/>
              </a:rPr>
              <a:t> · 2026 </a:t>
            </a:r>
            <a:r>
              <a:rPr lang="zh-CN" sz="1050">
                <a:solidFill>
                  <a:srgbClr val="94A3B8"/>
                </a:solidFill>
                <a:latin typeface="Microsoft YaHei"/>
                <a:ea typeface="Microsoft YaHei"/>
              </a:rPr>
              <a:t>年</a:t>
            </a:r>
            <a:r>
              <a:rPr lang="en-US" sz="1050">
                <a:solidFill>
                  <a:srgbClr val="94A3B8"/>
                </a:solidFill>
                <a:latin typeface="Microsoft YaHei"/>
                <a:ea typeface="Microsoft YaHei"/>
              </a:rPr>
              <a:t> 9 </a:t>
            </a:r>
            <a:r>
              <a:rPr lang="zh-CN" sz="1050">
                <a:solidFill>
                  <a:srgbClr val="94A3B8"/>
                </a:solidFill>
                <a:latin typeface="Microsoft YaHei"/>
                <a:ea typeface="Microsoft YaHei"/>
              </a:rPr>
              <a:t>月</a:t>
            </a:r>
            <a:endParaRPr/>
          </a:p>
        </p:txBody>
      </p:sp>
    </p:spTree>
  </p:cSld>
</p:sld>
</file>

<file path=ppt/slides/slide2.xml><?xml version="1.0" encoding="utf-8"?>
<p:sld xmlns:p="http://schemas.openxmlformats.org/presentationml/2006/main" xmlns:a="http://schemas.openxmlformats.org/drawingml/2006/main">
  <p:cSld>
    <p:spTree>
      <p:nvGrpSpPr>
        <p:cNvPr id="10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p>
            <a:pPr/>
            <a:endParaRPr/>
          </a:p>
        </p:txBody>
      </p:sp>
      <p:sp>
        <p:nvSpPr>
          <p:cNvPr id="103" name="" descr="{&quot;isTemplate&quot;:true,&quot;type&quot;:&quot;text&quot;}"/>
          <p:cNvSpPr txBox="1"/>
          <p:nvPr/>
        </p:nvSpPr>
        <p:spPr>
          <a:xfrm rot="0" flipH="0" flipV="0">
            <a:off x="685800" y="381000"/>
            <a:ext cx="161925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F1F5F9"/>
                </a:solidFill>
                <a:latin typeface="Microsoft YaHei"/>
                <a:ea typeface="Microsoft YaHei"/>
              </a:rPr>
              <a:t>一句话主张</a:t>
            </a:r>
            <a:endParaRPr/>
          </a:p>
        </p:txBody>
      </p:sp>
      <p:sp>
        <p:nvSpPr>
          <p:cNvPr id="104" name="" descr="{&quot;isTemplate&quot;:true,&quot;type&quot;:&quot;text&quot;}"/>
          <p:cNvSpPr txBox="1"/>
          <p:nvPr/>
        </p:nvSpPr>
        <p:spPr>
          <a:xfrm rot="0" flipH="0" flipV="0">
            <a:off x="10277475" y="495300"/>
            <a:ext cx="12287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spc="225">
                <a:solidFill>
                  <a:srgbClr val="94A3B8"/>
                </a:solidFill>
                <a:latin typeface="Microsoft YaHei"/>
                <a:ea typeface="Microsoft YaHei"/>
              </a:rPr>
              <a:t>01 · </a:t>
            </a:r>
            <a:r>
              <a:rPr lang="zh-CN" sz="1050" spc="225">
                <a:solidFill>
                  <a:srgbClr val="94A3B8"/>
                </a:solidFill>
                <a:latin typeface="Microsoft YaHei"/>
                <a:ea typeface="Microsoft YaHei"/>
              </a:rPr>
              <a:t>我们做什么</a:t>
            </a:r>
            <a:endParaRPr/>
          </a:p>
        </p:txBody>
      </p:sp>
      <p:sp>
        <p:nvSpPr>
          <p:cNvPr id="105" name="" descr="{&quot;isTemplate&quot;:true,&quot;type&quot;:&quot;text&quot;}"/>
          <p:cNvSpPr txBox="1"/>
          <p:nvPr/>
        </p:nvSpPr>
        <p:spPr>
          <a:xfrm rot="0" flipH="0" flipV="0">
            <a:off x="685800" y="2228850"/>
            <a:ext cx="4095750" cy="16002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2250" b="1">
                <a:solidFill>
                  <a:srgbClr val="F1F5F9"/>
                </a:solidFill>
                <a:latin typeface="Microsoft YaHei"/>
                <a:ea typeface="Microsoft YaHei"/>
              </a:rPr>
              <a:t>在</a:t>
            </a:r>
            <a:r>
              <a:rPr lang="en-US" sz="2250" b="1">
                <a:solidFill>
                  <a:srgbClr val="F1F5F9"/>
                </a:solidFill>
                <a:latin typeface="Microsoft YaHei"/>
                <a:ea typeface="Microsoft YaHei"/>
              </a:rPr>
              <a:t> </a:t>
            </a:r>
            <a:r>
              <a:rPr lang="en-US" sz="2250" b="1">
                <a:solidFill>
                  <a:srgbClr val="3B82F6"/>
                </a:solidFill>
                <a:latin typeface="Microsoft YaHei"/>
                <a:ea typeface="Microsoft YaHei"/>
              </a:rPr>
              <a:t>8GB </a:t>
            </a:r>
            <a:r>
              <a:rPr lang="zh-CN" sz="2250" b="1">
                <a:solidFill>
                  <a:srgbClr val="3B82F6"/>
                </a:solidFill>
                <a:latin typeface="Microsoft YaHei"/>
                <a:ea typeface="Microsoft YaHei"/>
              </a:rPr>
              <a:t>显存</a:t>
            </a:r>
            <a:r>
              <a:rPr lang="zh-CN" sz="2250" b="1">
                <a:solidFill>
                  <a:srgbClr val="F1F5F9"/>
                </a:solidFill>
                <a:latin typeface="Microsoft YaHei"/>
                <a:ea typeface="Microsoft YaHei"/>
              </a:rPr>
              <a:t>的笔记本上，完全离线装下</a:t>
            </a:r>
            <a:r>
              <a:rPr lang="zh-CN" sz="2250" b="1">
                <a:solidFill>
                  <a:srgbClr val="06B6D4"/>
                </a:solidFill>
                <a:latin typeface="Microsoft YaHei"/>
                <a:ea typeface="Microsoft YaHei"/>
              </a:rPr>
              <a:t>整卷合同</a:t>
            </a:r>
            <a:r>
              <a:rPr lang="zh-CN" sz="2250" b="1">
                <a:solidFill>
                  <a:srgbClr val="F1F5F9"/>
                </a:solidFill>
                <a:latin typeface="Microsoft YaHei"/>
                <a:ea typeface="Microsoft YaHei"/>
              </a:rPr>
              <a:t>，逐句回查原文</a:t>
            </a:r>
            <a:r>
              <a:rPr lang="zh-CN" sz="2250" b="1">
                <a:solidFill>
                  <a:srgbClr val="06B6D4"/>
                </a:solidFill>
                <a:latin typeface="Microsoft YaHei"/>
                <a:ea typeface="Microsoft YaHei"/>
              </a:rPr>
              <a:t>页码</a:t>
            </a:r>
            <a:endParaRPr/>
          </a:p>
        </p:txBody>
      </p:sp>
      <p:sp>
        <p:nvSpPr>
          <p:cNvPr id="106" name="" descr="{&quot;isTemplate&quot;:true,&quot;type&quot;:&quot;text&quot;}"/>
          <p:cNvSpPr txBox="1"/>
          <p:nvPr/>
        </p:nvSpPr>
        <p:spPr>
          <a:xfrm rot="0" flipH="0" flipV="0">
            <a:off x="685800" y="4076700"/>
            <a:ext cx="4095750" cy="12001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5000"/>
              </a:lnSpc>
            </a:pPr>
            <a:r>
              <a:rPr lang="zh-CN" sz="1500">
                <a:solidFill>
                  <a:srgbClr val="94A3B8"/>
                </a:solidFill>
                <a:latin typeface="Microsoft YaHei"/>
                <a:ea typeface="Microsoft YaHei"/>
              </a:rPr>
              <a:t>基于</a:t>
            </a:r>
            <a:r>
              <a:rPr lang="en-US" sz="1500">
                <a:solidFill>
                  <a:srgbClr val="94A3B8"/>
                </a:solidFill>
                <a:latin typeface="Microsoft YaHei"/>
                <a:ea typeface="Microsoft YaHei"/>
              </a:rPr>
              <a:t> Spark-X2.5 </a:t>
            </a:r>
            <a:r>
              <a:rPr lang="zh-CN" sz="1500">
                <a:solidFill>
                  <a:srgbClr val="94A3B8"/>
                </a:solidFill>
                <a:latin typeface="Microsoft YaHei"/>
                <a:ea typeface="Microsoft YaHei"/>
              </a:rPr>
              <a:t>双模型（</a:t>
            </a:r>
            <a:r>
              <a:rPr lang="en-US" sz="1500">
                <a:solidFill>
                  <a:srgbClr val="94A3B8"/>
                </a:solidFill>
                <a:latin typeface="Microsoft YaHei"/>
                <a:ea typeface="Microsoft YaHei"/>
              </a:rPr>
              <a:t>1.7B </a:t>
            </a:r>
            <a:r>
              <a:rPr lang="zh-CN" sz="1500">
                <a:solidFill>
                  <a:srgbClr val="94A3B8"/>
                </a:solidFill>
                <a:latin typeface="Microsoft YaHei"/>
                <a:ea typeface="Microsoft YaHei"/>
              </a:rPr>
              <a:t>常驻快答</a:t>
            </a:r>
            <a:r>
              <a:rPr lang="en-US" sz="1500">
                <a:solidFill>
                  <a:srgbClr val="94A3B8"/>
                </a:solidFill>
                <a:latin typeface="Microsoft YaHei"/>
                <a:ea typeface="Microsoft YaHei"/>
              </a:rPr>
              <a:t> + 4B </a:t>
            </a:r>
            <a:r>
              <a:rPr lang="zh-CN" sz="1500">
                <a:solidFill>
                  <a:srgbClr val="94A3B8"/>
                </a:solidFill>
                <a:latin typeface="Microsoft YaHei"/>
                <a:ea typeface="Microsoft YaHei"/>
              </a:rPr>
              <a:t>按需深审）与三档自适应路由；每句回答经</a:t>
            </a:r>
            <a:r>
              <a:rPr lang="en-US" sz="1500">
                <a:solidFill>
                  <a:srgbClr val="94A3B8"/>
                </a:solidFill>
                <a:latin typeface="Microsoft YaHei"/>
                <a:ea typeface="Microsoft YaHei"/>
              </a:rPr>
              <a:t> 8-gram </a:t>
            </a:r>
            <a:r>
              <a:rPr lang="zh-CN" sz="1500">
                <a:solidFill>
                  <a:srgbClr val="94A3B8"/>
                </a:solidFill>
                <a:latin typeface="Microsoft YaHei"/>
                <a:ea typeface="Microsoft YaHei"/>
              </a:rPr>
              <a:t>溯源校验，标注可核查页码。</a:t>
            </a:r>
            <a:endParaRPr/>
          </a:p>
        </p:txBody>
      </p:sp>
      <p:sp>
        <p:nvSpPr>
          <p:cNvPr id="107" name=""/>
          <p:cNvSpPr/>
          <p:nvPr/>
        </p:nvSpPr>
        <p:spPr>
          <a:xfrm rot="0" flipH="0" flipV="0">
            <a:off x="5162550" y="1323975"/>
            <a:ext cx="6343650" cy="1504950"/>
          </a:xfrm>
          <a:prstGeom prst="roundRect">
            <a:avLst>
              <a:gd name="adj" fmla="val 7595"/>
            </a:avLst>
          </a:prstGeom>
          <a:solidFill>
            <a:srgbClr val="1E293B"/>
          </a:solidFill>
          <a:ln/>
          <a:effectLst>
            <a:outerShdw blurRad="190500" dist="38100" dir="5400000">
              <a:srgbClr val="000000">
                <a:alpha val="30000"/>
              </a:srgbClr>
            </a:outerShdw>
          </a:effectLst>
        </p:spPr>
        <p:txBody>
          <a:bodyPr/>
          <a:p>
            <a:pPr/>
            <a:endParaRPr/>
          </a:p>
        </p:txBody>
      </p:sp>
      <p:sp>
        <p:nvSpPr>
          <p:cNvPr id="108" name="" descr="{&quot;isTemplate&quot;:true,&quot;type&quot;:&quot;text&quot;}"/>
          <p:cNvSpPr txBox="1"/>
          <p:nvPr/>
        </p:nvSpPr>
        <p:spPr>
          <a:xfrm rot="0" flipH="0" flipV="0">
            <a:off x="5467350" y="1600200"/>
            <a:ext cx="2286000" cy="962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6300" b="1">
                <a:solidFill>
                  <a:srgbClr val="3B82F6"/>
                </a:solidFill>
                <a:latin typeface="Inter"/>
                <a:ea typeface="Inter"/>
              </a:rPr>
              <a:t>8 GB</a:t>
            </a:r>
            <a:endParaRPr/>
          </a:p>
        </p:txBody>
      </p:sp>
      <p:sp>
        <p:nvSpPr>
          <p:cNvPr id="109" name="" descr="{&quot;isTemplate&quot;:true,&quot;type&quot;:&quot;text&quot;}"/>
          <p:cNvSpPr txBox="1"/>
          <p:nvPr/>
        </p:nvSpPr>
        <p:spPr>
          <a:xfrm rot="0" flipH="0" flipV="0">
            <a:off x="7981950" y="1628775"/>
            <a:ext cx="325755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F1F5F9"/>
                </a:solidFill>
                <a:latin typeface="Microsoft YaHei"/>
                <a:ea typeface="Microsoft YaHei"/>
              </a:rPr>
              <a:t>显存即可跑</a:t>
            </a:r>
            <a:endParaRPr/>
          </a:p>
        </p:txBody>
      </p:sp>
      <p:sp>
        <p:nvSpPr>
          <p:cNvPr id="110" name="" descr="{&quot;isTemplate&quot;:true,&quot;type&quot;:&quot;text&quot;}"/>
          <p:cNvSpPr txBox="1"/>
          <p:nvPr/>
        </p:nvSpPr>
        <p:spPr>
          <a:xfrm rot="0" flipH="0" flipV="0">
            <a:off x="7981950" y="1943100"/>
            <a:ext cx="3257550" cy="5905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en-US" sz="1275">
                <a:solidFill>
                  <a:srgbClr val="94A3B8"/>
                </a:solidFill>
                <a:latin typeface="Microsoft YaHei"/>
                <a:ea typeface="Microsoft YaHei"/>
              </a:rPr>
              <a:t>1.7B + 4B </a:t>
            </a:r>
            <a:r>
              <a:rPr lang="zh-CN" sz="1275">
                <a:solidFill>
                  <a:srgbClr val="94A3B8"/>
                </a:solidFill>
                <a:latin typeface="Microsoft YaHei"/>
                <a:ea typeface="Microsoft YaHei"/>
              </a:rPr>
              <a:t>双模型同驻仅</a:t>
            </a:r>
            <a:r>
              <a:rPr lang="en-US" sz="1275">
                <a:solidFill>
                  <a:srgbClr val="94A3B8"/>
                </a:solidFill>
                <a:latin typeface="Microsoft YaHei"/>
                <a:ea typeface="Microsoft YaHei"/>
              </a:rPr>
              <a:t> 5.5GB</a:t>
            </a:r>
            <a:r>
              <a:rPr lang="zh-CN" sz="1275">
                <a:solidFill>
                  <a:srgbClr val="94A3B8"/>
                </a:solidFill>
                <a:latin typeface="Microsoft YaHei"/>
                <a:ea typeface="Microsoft YaHei"/>
              </a:rPr>
              <a:t>，消费级笔记本无需升级硬件</a:t>
            </a:r>
            <a:endParaRPr/>
          </a:p>
        </p:txBody>
      </p:sp>
      <p:sp>
        <p:nvSpPr>
          <p:cNvPr id="111" name=""/>
          <p:cNvSpPr/>
          <p:nvPr/>
        </p:nvSpPr>
        <p:spPr>
          <a:xfrm rot="0" flipH="0" flipV="0">
            <a:off x="5162550" y="3000375"/>
            <a:ext cx="6343650" cy="1504950"/>
          </a:xfrm>
          <a:prstGeom prst="roundRect">
            <a:avLst>
              <a:gd name="adj" fmla="val 7595"/>
            </a:avLst>
          </a:prstGeom>
          <a:solidFill>
            <a:srgbClr val="1E293B"/>
          </a:solidFill>
          <a:ln/>
          <a:effectLst>
            <a:outerShdw blurRad="190500" dist="38100" dir="5400000">
              <a:srgbClr val="000000">
                <a:alpha val="30000"/>
              </a:srgbClr>
            </a:outerShdw>
          </a:effectLst>
        </p:spPr>
        <p:txBody>
          <a:bodyPr/>
          <a:p>
            <a:pPr/>
            <a:endParaRPr/>
          </a:p>
        </p:txBody>
      </p:sp>
      <p:sp>
        <p:nvSpPr>
          <p:cNvPr id="112" name="" descr="{&quot;isTemplate&quot;:true,&quot;type&quot;:&quot;text&quot;}"/>
          <p:cNvSpPr txBox="1"/>
          <p:nvPr/>
        </p:nvSpPr>
        <p:spPr>
          <a:xfrm rot="0" flipH="0" flipV="0">
            <a:off x="5467350" y="3276600"/>
            <a:ext cx="2286000" cy="962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6300" b="1">
                <a:solidFill>
                  <a:srgbClr val="06B6D4"/>
                </a:solidFill>
                <a:latin typeface="Inter"/>
                <a:ea typeface="Inter"/>
              </a:rPr>
              <a:t>134</a:t>
            </a:r>
            <a:endParaRPr/>
          </a:p>
        </p:txBody>
      </p:sp>
      <p:sp>
        <p:nvSpPr>
          <p:cNvPr id="113" name="" descr="{&quot;isTemplate&quot;:true,&quot;type&quot;:&quot;text&quot;}"/>
          <p:cNvSpPr txBox="1"/>
          <p:nvPr/>
        </p:nvSpPr>
        <p:spPr>
          <a:xfrm rot="0" flipH="0" flipV="0">
            <a:off x="7981950" y="3305175"/>
            <a:ext cx="325755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 b="1">
                <a:solidFill>
                  <a:srgbClr val="F1F5F9"/>
                </a:solidFill>
                <a:latin typeface="Microsoft YaHei"/>
                <a:ea typeface="Microsoft YaHei"/>
              </a:rPr>
              <a:t>tok/s </a:t>
            </a:r>
            <a:r>
              <a:rPr lang="zh-CN" sz="1650" b="1">
                <a:solidFill>
                  <a:srgbClr val="F1F5F9"/>
                </a:solidFill>
                <a:latin typeface="Microsoft YaHei"/>
                <a:ea typeface="Microsoft YaHei"/>
              </a:rPr>
              <a:t>端侧推理速度</a:t>
            </a:r>
            <a:endParaRPr/>
          </a:p>
        </p:txBody>
      </p:sp>
      <p:sp>
        <p:nvSpPr>
          <p:cNvPr id="114" name="" descr="{&quot;isTemplate&quot;:true,&quot;type&quot;:&quot;text&quot;}"/>
          <p:cNvSpPr txBox="1"/>
          <p:nvPr/>
        </p:nvSpPr>
        <p:spPr>
          <a:xfrm rot="0" flipH="0" flipV="0">
            <a:off x="7981950" y="3619500"/>
            <a:ext cx="3257550" cy="5905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en-US" sz="1275">
                <a:solidFill>
                  <a:srgbClr val="94A3B8"/>
                </a:solidFill>
                <a:latin typeface="Microsoft YaHei"/>
                <a:ea typeface="Microsoft YaHei"/>
              </a:rPr>
              <a:t>1.7B Q4_K_M </a:t>
            </a:r>
            <a:r>
              <a:rPr lang="zh-CN" sz="1275">
                <a:solidFill>
                  <a:srgbClr val="94A3B8"/>
                </a:solidFill>
                <a:latin typeface="Microsoft YaHei"/>
                <a:ea typeface="Microsoft YaHei"/>
              </a:rPr>
              <a:t>量化</a:t>
            </a:r>
            <a:r>
              <a:rPr lang="en-US" sz="1275">
                <a:solidFill>
                  <a:srgbClr val="94A3B8"/>
                </a:solidFill>
                <a:latin typeface="Microsoft YaHei"/>
                <a:ea typeface="Microsoft YaHei"/>
              </a:rPr>
              <a:t> + GPU </a:t>
            </a:r>
            <a:r>
              <a:rPr lang="zh-CN" sz="1275">
                <a:solidFill>
                  <a:srgbClr val="94A3B8"/>
                </a:solidFill>
                <a:latin typeface="Microsoft YaHei"/>
                <a:ea typeface="Microsoft YaHei"/>
              </a:rPr>
              <a:t>全层卸载，比原始方案快</a:t>
            </a:r>
            <a:r>
              <a:rPr lang="en-US" sz="1275">
                <a:solidFill>
                  <a:srgbClr val="94A3B8"/>
                </a:solidFill>
                <a:latin typeface="Microsoft YaHei"/>
                <a:ea typeface="Microsoft YaHei"/>
              </a:rPr>
              <a:t> 35–60 </a:t>
            </a:r>
            <a:r>
              <a:rPr lang="zh-CN" sz="1275">
                <a:solidFill>
                  <a:srgbClr val="94A3B8"/>
                </a:solidFill>
                <a:latin typeface="Microsoft YaHei"/>
                <a:ea typeface="Microsoft YaHei"/>
              </a:rPr>
              <a:t>倍</a:t>
            </a:r>
            <a:endParaRPr/>
          </a:p>
        </p:txBody>
      </p:sp>
      <p:sp>
        <p:nvSpPr>
          <p:cNvPr id="115" name=""/>
          <p:cNvSpPr/>
          <p:nvPr/>
        </p:nvSpPr>
        <p:spPr>
          <a:xfrm rot="0" flipH="0" flipV="0">
            <a:off x="5162550" y="4676775"/>
            <a:ext cx="6343650" cy="1504950"/>
          </a:xfrm>
          <a:prstGeom prst="roundRect">
            <a:avLst>
              <a:gd name="adj" fmla="val 7595"/>
            </a:avLst>
          </a:prstGeom>
          <a:solidFill>
            <a:srgbClr val="1E293B"/>
          </a:solidFill>
          <a:ln/>
          <a:effectLst>
            <a:outerShdw blurRad="190500" dist="38100" dir="5400000">
              <a:srgbClr val="000000">
                <a:alpha val="30000"/>
              </a:srgbClr>
            </a:outerShdw>
          </a:effectLst>
        </p:spPr>
        <p:txBody>
          <a:bodyPr/>
          <a:p>
            <a:pPr/>
            <a:endParaRPr/>
          </a:p>
        </p:txBody>
      </p:sp>
      <p:sp>
        <p:nvSpPr>
          <p:cNvPr id="116" name="" descr="{&quot;isTemplate&quot;:true,&quot;type&quot;:&quot;text&quot;}"/>
          <p:cNvSpPr txBox="1"/>
          <p:nvPr/>
        </p:nvSpPr>
        <p:spPr>
          <a:xfrm rot="0" flipH="0" flipV="0">
            <a:off x="5467350" y="4953000"/>
            <a:ext cx="2286000" cy="962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6300" b="1">
                <a:solidFill>
                  <a:srgbClr val="F59E0B"/>
                </a:solidFill>
                <a:latin typeface="Inter"/>
                <a:ea typeface="Inter"/>
              </a:rPr>
              <a:t>0</a:t>
            </a:r>
            <a:endParaRPr/>
          </a:p>
        </p:txBody>
      </p:sp>
      <p:sp>
        <p:nvSpPr>
          <p:cNvPr id="117" name="" descr="{&quot;isTemplate&quot;:true,&quot;type&quot;:&quot;text&quot;}"/>
          <p:cNvSpPr txBox="1"/>
          <p:nvPr/>
        </p:nvSpPr>
        <p:spPr>
          <a:xfrm rot="0" flipH="0" flipV="0">
            <a:off x="7981950" y="4981575"/>
            <a:ext cx="325755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F1F5F9"/>
                </a:solidFill>
                <a:latin typeface="Microsoft YaHei"/>
                <a:ea typeface="Microsoft YaHei"/>
              </a:rPr>
              <a:t>字节数据出设备</a:t>
            </a:r>
            <a:endParaRPr/>
          </a:p>
        </p:txBody>
      </p:sp>
      <p:sp>
        <p:nvSpPr>
          <p:cNvPr id="118" name="" descr="{&quot;isTemplate&quot;:true,&quot;type&quot;:&quot;text&quot;}"/>
          <p:cNvSpPr txBox="1"/>
          <p:nvPr/>
        </p:nvSpPr>
        <p:spPr>
          <a:xfrm rot="0" flipH="0" flipV="0">
            <a:off x="7981950" y="5295900"/>
            <a:ext cx="3257550" cy="5905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275">
                <a:solidFill>
                  <a:srgbClr val="94A3B8"/>
                </a:solidFill>
                <a:latin typeface="Microsoft YaHei"/>
                <a:ea typeface="Microsoft YaHei"/>
              </a:rPr>
              <a:t>全程本地推理，飞行模式可跑，敏感合同不出本机</a:t>
            </a:r>
            <a:endParaRPr/>
          </a:p>
        </p:txBody>
      </p:sp>
      <p:sp>
        <p:nvSpPr>
          <p:cNvPr id="119" name="" descr="{&quot;isTemplate&quot;:true,&quot;type&quot;:&quot;text&quot;}"/>
          <p:cNvSpPr txBox="1"/>
          <p:nvPr/>
        </p:nvSpPr>
        <p:spPr>
          <a:xfrm rot="0" flipH="0" flipV="0">
            <a:off x="685800" y="6457950"/>
            <a:ext cx="17716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94A3B8"/>
                </a:solidFill>
                <a:latin typeface="Microsoft YaHei"/>
                <a:ea typeface="Microsoft YaHei"/>
              </a:rPr>
              <a:t>卷宗</a:t>
            </a:r>
            <a:r>
              <a:rPr lang="en-US" sz="1050">
                <a:solidFill>
                  <a:srgbClr val="94A3B8"/>
                </a:solidFill>
                <a:latin typeface="Microsoft YaHei"/>
                <a:ea typeface="Microsoft YaHei"/>
              </a:rPr>
              <a:t> · Spark-X2.5 </a:t>
            </a:r>
            <a:r>
              <a:rPr lang="zh-CN" sz="1050">
                <a:solidFill>
                  <a:srgbClr val="94A3B8"/>
                </a:solidFill>
                <a:latin typeface="Microsoft YaHei"/>
                <a:ea typeface="Microsoft YaHei"/>
              </a:rPr>
              <a:t>端侧挑战赛</a:t>
            </a:r>
            <a:endParaRPr/>
          </a:p>
        </p:txBody>
      </p:sp>
      <p:sp>
        <p:nvSpPr>
          <p:cNvPr id="120" name="" descr="{&quot;isTemplate&quot;:true,&quot;type&quot;:&quot;text&quot;}"/>
          <p:cNvSpPr txBox="1"/>
          <p:nvPr/>
        </p:nvSpPr>
        <p:spPr>
          <a:xfrm rot="0" flipH="0" flipV="0">
            <a:off x="11049000" y="645795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94A3B8"/>
                </a:solidFill>
                <a:latin typeface="Microsoft YaHei"/>
                <a:ea typeface="Microsoft YaHei"/>
              </a:rPr>
              <a:t>02 / 12</a:t>
            </a:r>
            <a:endParaRPr/>
          </a:p>
        </p:txBody>
      </p:sp>
    </p:spTree>
  </p:cSld>
</p:sld>
</file>

<file path=ppt/slides/slide3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spTree>
      <p:nvGrpSpPr>
        <p:cNvPr id="12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p>
            <a:pPr/>
            <a:endParaRPr/>
          </a:p>
        </p:txBody>
      </p:sp>
      <p:sp>
        <p:nvSpPr>
          <p:cNvPr id="123" name="" descr="{&quot;isTemplate&quot;:true,&quot;type&quot;:&quot;text&quot;}"/>
          <p:cNvSpPr txBox="1"/>
          <p:nvPr/>
        </p:nvSpPr>
        <p:spPr>
          <a:xfrm rot="0" flipH="0" flipV="0">
            <a:off x="685800" y="381000"/>
            <a:ext cx="38862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F1F5F9"/>
                </a:solidFill>
                <a:latin typeface="Microsoft YaHei"/>
                <a:ea typeface="Microsoft YaHei"/>
              </a:rPr>
              <a:t>痛点：隐私与效率的二选一</a:t>
            </a:r>
            <a:endParaRPr/>
          </a:p>
        </p:txBody>
      </p:sp>
      <p:sp>
        <p:nvSpPr>
          <p:cNvPr id="124" name="" descr="{&quot;isTemplate&quot;:true,&quot;type&quot;:&quot;text&quot;}"/>
          <p:cNvSpPr txBox="1"/>
          <p:nvPr/>
        </p:nvSpPr>
        <p:spPr>
          <a:xfrm rot="0" flipH="0" flipV="0">
            <a:off x="10115550" y="495300"/>
            <a:ext cx="13906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spc="225">
                <a:solidFill>
                  <a:srgbClr val="94A3B8"/>
                </a:solidFill>
                <a:latin typeface="Microsoft YaHei"/>
                <a:ea typeface="Microsoft YaHei"/>
              </a:rPr>
              <a:t>02 · </a:t>
            </a:r>
            <a:r>
              <a:rPr lang="zh-CN" sz="1050" spc="225">
                <a:solidFill>
                  <a:srgbClr val="94A3B8"/>
                </a:solidFill>
                <a:latin typeface="Microsoft YaHei"/>
                <a:ea typeface="Microsoft YaHei"/>
              </a:rPr>
              <a:t>为什么是现在</a:t>
            </a:r>
            <a:endParaRPr/>
          </a:p>
        </p:txBody>
      </p:sp>
      <p:sp>
        <p:nvSpPr>
          <p:cNvPr id="125" name=""/>
          <p:cNvSpPr/>
          <p:nvPr/>
        </p:nvSpPr>
        <p:spPr>
          <a:xfrm rot="0" flipH="0" flipV="0">
            <a:off x="685800" y="1104900"/>
            <a:ext cx="4476750" cy="1200150"/>
          </a:xfrm>
          <a:prstGeom prst="roundRect">
            <a:avLst>
              <a:gd name="adj" fmla="val 7937"/>
            </a:avLst>
          </a:prstGeom>
          <a:solidFill>
            <a:srgbClr val="1E293B"/>
          </a:solidFill>
          <a:ln/>
        </p:spPr>
        <p:txBody>
          <a:bodyPr/>
          <a:p>
            <a:pPr/>
            <a:endParaRPr/>
          </a:p>
        </p:txBody>
      </p:sp>
      <p:sp>
        <p:nvSpPr>
          <p:cNvPr id="126" name="" descr="{&quot;isTemplate&quot;:true,&quot;type&quot;:&quot;text&quot;}"/>
          <p:cNvSpPr txBox="1"/>
          <p:nvPr/>
        </p:nvSpPr>
        <p:spPr>
          <a:xfrm rot="0" flipH="0" flipV="0">
            <a:off x="876300" y="1257300"/>
            <a:ext cx="4095750" cy="6572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425" i="1">
                <a:solidFill>
                  <a:srgbClr val="F1F5F9"/>
                </a:solidFill>
                <a:latin typeface="Microsoft YaHei"/>
                <a:ea typeface="Microsoft YaHei"/>
              </a:rPr>
              <a:t>「公司合同里有报价、账期，网页版</a:t>
            </a:r>
            <a:r>
              <a:rPr lang="en-US" sz="1425" i="1">
                <a:solidFill>
                  <a:srgbClr val="F1F5F9"/>
                </a:solidFill>
                <a:latin typeface="Microsoft YaHei"/>
                <a:ea typeface="Microsoft YaHei"/>
              </a:rPr>
              <a:t> AI </a:t>
            </a:r>
            <a:r>
              <a:rPr lang="zh-CN" sz="1425" i="1">
                <a:solidFill>
                  <a:srgbClr val="F1F5F9"/>
                </a:solidFill>
                <a:latin typeface="Microsoft YaHei"/>
                <a:ea typeface="Microsoft YaHei"/>
              </a:rPr>
              <a:t>一律不敢用」</a:t>
            </a:r>
            <a:endParaRPr/>
          </a:p>
        </p:txBody>
      </p:sp>
      <p:sp>
        <p:nvSpPr>
          <p:cNvPr id="127" name="" descr="{&quot;isTemplate&quot;:true,&quot;type&quot;:&quot;text&quot;}"/>
          <p:cNvSpPr txBox="1"/>
          <p:nvPr/>
        </p:nvSpPr>
        <p:spPr>
          <a:xfrm rot="0" flipH="0" flipV="0">
            <a:off x="876300" y="1990725"/>
            <a:ext cx="40957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94A3B8"/>
                </a:solidFill>
                <a:latin typeface="Microsoft YaHei"/>
                <a:ea typeface="Microsoft YaHei"/>
              </a:rPr>
              <a:t>—— </a:t>
            </a:r>
            <a:r>
              <a:rPr lang="zh-CN" sz="1050">
                <a:solidFill>
                  <a:srgbClr val="94A3B8"/>
                </a:solidFill>
                <a:latin typeface="Microsoft YaHei"/>
                <a:ea typeface="Microsoft YaHei"/>
              </a:rPr>
              <a:t>模拟访谈</a:t>
            </a:r>
            <a:r>
              <a:rPr lang="en-US" sz="1050">
                <a:solidFill>
                  <a:srgbClr val="94A3B8"/>
                </a:solidFill>
                <a:latin typeface="Microsoft YaHei"/>
                <a:ea typeface="Microsoft YaHei"/>
              </a:rPr>
              <a:t> · </a:t>
            </a:r>
            <a:r>
              <a:rPr lang="zh-CN" sz="1050">
                <a:solidFill>
                  <a:srgbClr val="94A3B8"/>
                </a:solidFill>
                <a:latin typeface="Microsoft YaHei"/>
                <a:ea typeface="Microsoft YaHei"/>
              </a:rPr>
              <a:t>中小企业采购（</a:t>
            </a:r>
            <a:r>
              <a:rPr lang="en-US" sz="1050">
                <a:solidFill>
                  <a:srgbClr val="94A3B8"/>
                </a:solidFill>
                <a:latin typeface="Microsoft YaHei"/>
                <a:ea typeface="Microsoft YaHei"/>
              </a:rPr>
              <a:t>AI </a:t>
            </a:r>
            <a:r>
              <a:rPr lang="zh-CN" sz="1050">
                <a:solidFill>
                  <a:srgbClr val="94A3B8"/>
                </a:solidFill>
                <a:latin typeface="Microsoft YaHei"/>
                <a:ea typeface="Microsoft YaHei"/>
              </a:rPr>
              <a:t>画像）</a:t>
            </a:r>
            <a:endParaRPr/>
          </a:p>
        </p:txBody>
      </p:sp>
      <p:sp>
        <p:nvSpPr>
          <p:cNvPr id="128" name=""/>
          <p:cNvSpPr/>
          <p:nvPr/>
        </p:nvSpPr>
        <p:spPr>
          <a:xfrm rot="0" flipH="0" flipV="0">
            <a:off x="685800" y="2438400"/>
            <a:ext cx="4476750" cy="876300"/>
          </a:xfrm>
          <a:prstGeom prst="roundRect">
            <a:avLst>
              <a:gd name="adj" fmla="val 10870"/>
            </a:avLst>
          </a:prstGeom>
          <a:solidFill>
            <a:srgbClr val="1E293B"/>
          </a:solidFill>
          <a:ln/>
        </p:spPr>
        <p:txBody>
          <a:bodyPr/>
          <a:p>
            <a:pPr/>
            <a:endParaRPr/>
          </a:p>
        </p:txBody>
      </p:sp>
      <p:sp>
        <p:nvSpPr>
          <p:cNvPr id="129" name="" descr="{&quot;isTemplate&quot;:true,&quot;type&quot;:&quot;text&quot;}"/>
          <p:cNvSpPr txBox="1"/>
          <p:nvPr/>
        </p:nvSpPr>
        <p:spPr>
          <a:xfrm rot="0" flipH="0" flipV="0">
            <a:off x="876300" y="2590800"/>
            <a:ext cx="4095750" cy="3333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425" i="1">
                <a:solidFill>
                  <a:srgbClr val="F1F5F9"/>
                </a:solidFill>
                <a:latin typeface="Microsoft YaHei"/>
                <a:ea typeface="Microsoft YaHei"/>
              </a:rPr>
              <a:t>「</a:t>
            </a:r>
            <a:r>
              <a:rPr lang="en-US" sz="1425" i="1">
                <a:solidFill>
                  <a:srgbClr val="F1F5F9"/>
                </a:solidFill>
                <a:latin typeface="Microsoft YaHei"/>
                <a:ea typeface="Microsoft YaHei"/>
              </a:rPr>
              <a:t>AI </a:t>
            </a:r>
            <a:r>
              <a:rPr lang="zh-CN" sz="1425" i="1">
                <a:solidFill>
                  <a:srgbClr val="F1F5F9"/>
                </a:solidFill>
                <a:latin typeface="Microsoft YaHei"/>
                <a:ea typeface="Microsoft YaHei"/>
              </a:rPr>
              <a:t>说得再好，指不出第几页我就不敢信」</a:t>
            </a:r>
            <a:endParaRPr/>
          </a:p>
        </p:txBody>
      </p:sp>
      <p:sp>
        <p:nvSpPr>
          <p:cNvPr id="130" name="" descr="{&quot;isTemplate&quot;:true,&quot;type&quot;:&quot;text&quot;}"/>
          <p:cNvSpPr txBox="1"/>
          <p:nvPr/>
        </p:nvSpPr>
        <p:spPr>
          <a:xfrm rot="0" flipH="0" flipV="0">
            <a:off x="876300" y="3000375"/>
            <a:ext cx="40957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94A3B8"/>
                </a:solidFill>
                <a:latin typeface="Microsoft YaHei"/>
                <a:ea typeface="Microsoft YaHei"/>
              </a:rPr>
              <a:t>—— </a:t>
            </a:r>
            <a:r>
              <a:rPr lang="zh-CN" sz="1050">
                <a:solidFill>
                  <a:srgbClr val="94A3B8"/>
                </a:solidFill>
                <a:latin typeface="Microsoft YaHei"/>
                <a:ea typeface="Microsoft YaHei"/>
              </a:rPr>
              <a:t>模拟访谈</a:t>
            </a:r>
            <a:r>
              <a:rPr lang="en-US" sz="1050">
                <a:solidFill>
                  <a:srgbClr val="94A3B8"/>
                </a:solidFill>
                <a:latin typeface="Microsoft YaHei"/>
                <a:ea typeface="Microsoft YaHei"/>
              </a:rPr>
              <a:t> · </a:t>
            </a:r>
            <a:r>
              <a:rPr lang="zh-CN" sz="1050">
                <a:solidFill>
                  <a:srgbClr val="94A3B8"/>
                </a:solidFill>
                <a:latin typeface="Microsoft YaHei"/>
                <a:ea typeface="Microsoft YaHei"/>
              </a:rPr>
              <a:t>法务助理（</a:t>
            </a:r>
            <a:r>
              <a:rPr lang="en-US" sz="1050">
                <a:solidFill>
                  <a:srgbClr val="94A3B8"/>
                </a:solidFill>
                <a:latin typeface="Microsoft YaHei"/>
                <a:ea typeface="Microsoft YaHei"/>
              </a:rPr>
              <a:t>AI </a:t>
            </a:r>
            <a:r>
              <a:rPr lang="zh-CN" sz="1050">
                <a:solidFill>
                  <a:srgbClr val="94A3B8"/>
                </a:solidFill>
                <a:latin typeface="Microsoft YaHei"/>
                <a:ea typeface="Microsoft YaHei"/>
              </a:rPr>
              <a:t>画像）</a:t>
            </a:r>
            <a:endParaRPr/>
          </a:p>
        </p:txBody>
      </p:sp>
      <p:sp>
        <p:nvSpPr>
          <p:cNvPr id="131" name=""/>
          <p:cNvSpPr/>
          <p:nvPr/>
        </p:nvSpPr>
        <p:spPr>
          <a:xfrm rot="0" flipH="0" flipV="0">
            <a:off x="685800" y="3448050"/>
            <a:ext cx="4476750" cy="762000"/>
          </a:xfrm>
          <a:prstGeom prst="roundRect">
            <a:avLst>
              <a:gd name="adj" fmla="val 12500"/>
            </a:avLst>
          </a:prstGeom>
          <a:solidFill>
            <a:srgbClr val="3B82F6">
              <a:alpha val="8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132" name=""/>
          <p:cNvSpPr/>
          <p:nvPr/>
        </p:nvSpPr>
        <p:spPr>
          <a:xfrm rot="0" flipH="0" flipV="0">
            <a:off x="876300" y="3648075"/>
            <a:ext cx="76200" cy="76200"/>
          </a:xfrm>
          <a:prstGeom prst="roundRect">
            <a:avLst>
              <a:gd name="adj" fmla="val 50000"/>
            </a:avLst>
          </a:prstGeom>
          <a:solidFill>
            <a:srgbClr val="3B82F6"/>
          </a:solidFill>
          <a:ln/>
        </p:spPr>
        <p:txBody>
          <a:bodyPr/>
          <a:p>
            <a:pPr/>
            <a:endParaRPr/>
          </a:p>
        </p:txBody>
      </p:sp>
      <p:sp>
        <p:nvSpPr>
          <p:cNvPr id="133" name="" descr="{&quot;isTemplate&quot;:true,&quot;type&quot;:&quot;text&quot;}"/>
          <p:cNvSpPr txBox="1"/>
          <p:nvPr/>
        </p:nvSpPr>
        <p:spPr>
          <a:xfrm rot="0" flipH="0" flipV="0">
            <a:off x="1047750" y="3581400"/>
            <a:ext cx="378142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F1F5F9"/>
                </a:solidFill>
                <a:latin typeface="Microsoft YaHei"/>
                <a:ea typeface="Microsoft YaHei"/>
              </a:rPr>
              <a:t>云端大模型：能力强，但敏感合同出本机</a:t>
            </a:r>
            <a:r>
              <a:rPr lang="en-US" sz="1275">
                <a:solidFill>
                  <a:srgbClr val="F1F5F9"/>
                </a:solidFill>
                <a:latin typeface="Microsoft YaHei"/>
                <a:ea typeface="Microsoft YaHei"/>
              </a:rPr>
              <a:t> = </a:t>
            </a:r>
            <a:r>
              <a:rPr lang="zh-CN" sz="1275">
                <a:solidFill>
                  <a:srgbClr val="F1F5F9"/>
                </a:solidFill>
                <a:latin typeface="Microsoft YaHei"/>
                <a:ea typeface="Microsoft YaHei"/>
              </a:rPr>
              <a:t>合规风险</a:t>
            </a:r>
            <a:endParaRPr/>
          </a:p>
        </p:txBody>
      </p:sp>
      <p:sp>
        <p:nvSpPr>
          <p:cNvPr id="134" name=""/>
          <p:cNvSpPr/>
          <p:nvPr/>
        </p:nvSpPr>
        <p:spPr>
          <a:xfrm rot="0" flipH="0" flipV="0">
            <a:off x="876300" y="3943350"/>
            <a:ext cx="76200" cy="76200"/>
          </a:xfrm>
          <a:prstGeom prst="roundRect">
            <a:avLst>
              <a:gd name="adj" fmla="val 50000"/>
            </a:avLst>
          </a:prstGeom>
          <a:solidFill>
            <a:srgbClr val="94A3B8"/>
          </a:solidFill>
          <a:ln/>
        </p:spPr>
        <p:txBody>
          <a:bodyPr/>
          <a:p>
            <a:pPr/>
            <a:endParaRPr/>
          </a:p>
        </p:txBody>
      </p:sp>
      <p:sp>
        <p:nvSpPr>
          <p:cNvPr id="135" name="" descr="{&quot;isTemplate&quot;:true,&quot;type&quot;:&quot;text&quot;}"/>
          <p:cNvSpPr txBox="1"/>
          <p:nvPr/>
        </p:nvSpPr>
        <p:spPr>
          <a:xfrm rot="0" flipH="0" flipV="0">
            <a:off x="1047750" y="3876675"/>
            <a:ext cx="39243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F1F5F9"/>
                </a:solidFill>
                <a:latin typeface="Microsoft YaHei"/>
                <a:ea typeface="Microsoft YaHei"/>
              </a:rPr>
              <a:t>本地小模型：数据不出网，但装不下长文档、读不完整卷</a:t>
            </a:r>
            <a:endParaRPr/>
          </a:p>
        </p:txBody>
      </p:sp>
      <p:sp>
        <p:nvSpPr>
          <p:cNvPr id="136" name=""/>
          <p:cNvSpPr/>
          <p:nvPr/>
        </p:nvSpPr>
        <p:spPr>
          <a:xfrm rot="0" flipH="0" flipV="0">
            <a:off x="714375" y="4343400"/>
            <a:ext cx="4476750" cy="933450"/>
          </a:xfrm>
          <a:prstGeom prst="roundRect">
            <a:avLst>
              <a:gd name="adj" fmla="val 6122"/>
            </a:avLst>
          </a:prstGeom>
          <a:solidFill>
            <a:srgbClr val="3B82F6">
              <a:alpha val="8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137" name=""/>
          <p:cNvSpPr/>
          <p:nvPr/>
        </p:nvSpPr>
        <p:spPr>
          <a:xfrm rot="0" flipH="0" flipV="0">
            <a:off x="714375" y="4343400"/>
            <a:ext cx="4476750" cy="933450"/>
          </a:xfrm>
          <a:custGeom>
            <a:pathLst>
              <a:path w="470" h="98">
                <a:moveTo>
                  <a:pt x="6" y="0"/>
                </a:moveTo>
                <a:cubicBezTo>
                  <a:pt x="4" y="0"/>
                  <a:pt x="3" y="1"/>
                  <a:pt x="3" y="3"/>
                </a:cubicBezTo>
                <a:lnTo>
                  <a:pt x="3" y="95"/>
                </a:lnTo>
                <a:cubicBezTo>
                  <a:pt x="3" y="96"/>
                  <a:pt x="4" y="98"/>
                  <a:pt x="5" y="98"/>
                </a:cubicBezTo>
                <a:cubicBezTo>
                  <a:pt x="2" y="98"/>
                  <a:pt x="0" y="95"/>
                  <a:pt x="0" y="92"/>
                </a:cubicBezTo>
                <a:lnTo>
                  <a:pt x="0" y="6"/>
                </a:lnTo>
                <a:cubicBezTo>
                  <a:pt x="0" y="3"/>
                  <a:pt x="3" y="0"/>
                  <a:pt x="6" y="0"/>
                </a:cubicBezTo>
                <a:close/>
              </a:path>
            </a:pathLst>
          </a:custGeom>
          <a:solidFill>
            <a:srgbClr val="3B82F6"/>
          </a:solidFill>
          <a:ln/>
        </p:spPr>
        <p:txBody>
          <a:bodyPr/>
          <a:p>
            <a:pPr/>
            <a:endParaRPr/>
          </a:p>
        </p:txBody>
      </p:sp>
      <p:sp>
        <p:nvSpPr>
          <p:cNvPr id="138" name="" descr="{&quot;isTemplate&quot;:true,&quot;type&quot;:&quot;text&quot;}"/>
          <p:cNvSpPr txBox="1"/>
          <p:nvPr/>
        </p:nvSpPr>
        <p:spPr>
          <a:xfrm rot="0" flipH="0" flipV="0">
            <a:off x="885825" y="4476750"/>
            <a:ext cx="4105275" cy="6667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350" b="1">
                <a:solidFill>
                  <a:srgbClr val="3B82F6"/>
                </a:solidFill>
                <a:latin typeface="Microsoft YaHei"/>
                <a:ea typeface="Microsoft YaHei"/>
              </a:rPr>
              <a:t>缺口：</a:t>
            </a:r>
            <a:r>
              <a:rPr lang="zh-CN" sz="1350">
                <a:solidFill>
                  <a:srgbClr val="F1F5F9"/>
                </a:solidFill>
                <a:latin typeface="Microsoft YaHei"/>
                <a:ea typeface="Microsoft YaHei"/>
              </a:rPr>
              <a:t>端侧</a:t>
            </a:r>
            <a:r>
              <a:rPr lang="en-US" sz="1350">
                <a:solidFill>
                  <a:srgbClr val="F1F5F9"/>
                </a:solidFill>
                <a:latin typeface="Microsoft YaHei"/>
                <a:ea typeface="Microsoft YaHei"/>
              </a:rPr>
              <a:t> 1M </a:t>
            </a:r>
            <a:r>
              <a:rPr lang="zh-CN" sz="1350">
                <a:solidFill>
                  <a:srgbClr val="F1F5F9"/>
                </a:solidFill>
                <a:latin typeface="Microsoft YaHei"/>
                <a:ea typeface="Microsoft YaHei"/>
              </a:rPr>
              <a:t>上下文</a:t>
            </a:r>
            <a:r>
              <a:rPr lang="en-US" sz="1350">
                <a:solidFill>
                  <a:srgbClr val="F1F5F9"/>
                </a:solidFill>
                <a:latin typeface="Microsoft YaHei"/>
                <a:ea typeface="Microsoft YaHei"/>
              </a:rPr>
              <a:t> + </a:t>
            </a:r>
            <a:r>
              <a:rPr lang="zh-CN" sz="1350">
                <a:solidFill>
                  <a:srgbClr val="F1F5F9"/>
                </a:solidFill>
                <a:latin typeface="Microsoft YaHei"/>
                <a:ea typeface="Microsoft YaHei"/>
              </a:rPr>
              <a:t>可验证引用，同时成立的产品此前不存在</a:t>
            </a:r>
            <a:endParaRPr/>
          </a:p>
        </p:txBody>
      </p:sp>
      <p:pic>
        <p:nvPicPr>
          <p:cNvPr id="139" name=""/>
          <p:cNvPicPr>
            <a:picLocks noChangeAspect="1"/>
          </p:cNvPicPr>
          <p:nvPr/>
        </p:nvPicPr>
        <p:blipFill>
          <a:blip r:embed="rId1"/>
          <a:srcRect l="0" t="42" r="0" b="42"/>
          <a:stretch>
            <a:fillRect/>
          </a:stretch>
        </p:blipFill>
        <p:spPr>
          <a:xfrm rot="0" flipH="0" flipV="0">
            <a:off x="5819775" y="1914525"/>
            <a:ext cx="5334000" cy="3352800"/>
          </a:xfrm>
          <a:prstGeom prst="roundRect">
            <a:avLst>
              <a:gd name="adj" fmla="val 3409"/>
            </a:avLst>
          </a:prstGeom>
          <a:ln/>
        </p:spPr>
      </p:pic>
      <p:sp>
        <p:nvSpPr>
          <p:cNvPr id="140" name="" descr="{&quot;isTemplate&quot;:true,&quot;type&quot;:&quot;text&quot;}"/>
          <p:cNvSpPr txBox="1"/>
          <p:nvPr/>
        </p:nvSpPr>
        <p:spPr>
          <a:xfrm rot="0" flipH="0" flipV="0">
            <a:off x="6848475" y="5419725"/>
            <a:ext cx="3286125" cy="171450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zh-CN" sz="1125">
                <a:solidFill>
                  <a:srgbClr val="94A3B8"/>
                </a:solidFill>
                <a:latin typeface="Microsoft YaHei"/>
                <a:ea typeface="Microsoft YaHei"/>
              </a:rPr>
              <a:t>上云：数据合规风险　｜　本机小模型：装不下整卷</a:t>
            </a:r>
            <a:endParaRPr/>
          </a:p>
        </p:txBody>
      </p:sp>
      <p:sp>
        <p:nvSpPr>
          <p:cNvPr id="141" name="" descr="{&quot;isTemplate&quot;:true,&quot;type&quot;:&quot;text&quot;}"/>
          <p:cNvSpPr txBox="1"/>
          <p:nvPr/>
        </p:nvSpPr>
        <p:spPr>
          <a:xfrm rot="0" flipH="0" flipV="0">
            <a:off x="685800" y="6457950"/>
            <a:ext cx="17716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94A3B8"/>
                </a:solidFill>
                <a:latin typeface="Microsoft YaHei"/>
                <a:ea typeface="Microsoft YaHei"/>
              </a:rPr>
              <a:t>卷宗</a:t>
            </a:r>
            <a:r>
              <a:rPr lang="en-US" sz="1050">
                <a:solidFill>
                  <a:srgbClr val="94A3B8"/>
                </a:solidFill>
                <a:latin typeface="Microsoft YaHei"/>
                <a:ea typeface="Microsoft YaHei"/>
              </a:rPr>
              <a:t> · Spark-X2.5 </a:t>
            </a:r>
            <a:r>
              <a:rPr lang="zh-CN" sz="1050">
                <a:solidFill>
                  <a:srgbClr val="94A3B8"/>
                </a:solidFill>
                <a:latin typeface="Microsoft YaHei"/>
                <a:ea typeface="Microsoft YaHei"/>
              </a:rPr>
              <a:t>端侧挑战赛</a:t>
            </a:r>
            <a:endParaRPr/>
          </a:p>
        </p:txBody>
      </p:sp>
      <p:sp>
        <p:nvSpPr>
          <p:cNvPr id="142" name="" descr="{&quot;isTemplate&quot;:true,&quot;type&quot;:&quot;text&quot;}"/>
          <p:cNvSpPr txBox="1"/>
          <p:nvPr/>
        </p:nvSpPr>
        <p:spPr>
          <a:xfrm rot="0" flipH="0" flipV="0">
            <a:off x="11049000" y="645795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94A3B8"/>
                </a:solidFill>
                <a:latin typeface="Microsoft YaHei"/>
                <a:ea typeface="Microsoft YaHei"/>
              </a:rPr>
              <a:t>03 / 12</a:t>
            </a:r>
            <a:endParaRPr/>
          </a:p>
        </p:txBody>
      </p:sp>
    </p:spTree>
  </p:cSld>
</p:sld>
</file>

<file path=ppt/slides/slide4.xml><?xml version="1.0" encoding="utf-8"?>
<p:sld xmlns:p="http://schemas.openxmlformats.org/presentationml/2006/main" xmlns:r="http://schemas.openxmlformats.org/officeDocument/2006/relationships" xmlns:a="http://schemas.openxmlformats.org/drawingml/2006/main" xmlns:asvg="http://schemas.microsoft.com/office/drawing/2016/SVG/main" xmlns:mc="http://schemas.openxmlformats.org/markup-compatibility/2006" mc:Ignorable="asvg">
  <p:cSld>
    <p:spTree>
      <p:nvGrpSpPr>
        <p:cNvPr id="14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p>
            <a:pPr/>
            <a:endParaRPr/>
          </a:p>
        </p:txBody>
      </p:sp>
      <p:sp>
        <p:nvSpPr>
          <p:cNvPr id="145" name="" descr="{&quot;isTemplate&quot;:true,&quot;type&quot;:&quot;text&quot;}"/>
          <p:cNvSpPr txBox="1"/>
          <p:nvPr/>
        </p:nvSpPr>
        <p:spPr>
          <a:xfrm rot="0" flipH="0" flipV="0">
            <a:off x="685800" y="381000"/>
            <a:ext cx="291465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F1F5F9"/>
                </a:solidFill>
                <a:latin typeface="Microsoft YaHei"/>
                <a:ea typeface="Microsoft YaHei"/>
              </a:rPr>
              <a:t>技术架构：三层分工</a:t>
            </a:r>
            <a:endParaRPr/>
          </a:p>
        </p:txBody>
      </p:sp>
      <p:sp>
        <p:nvSpPr>
          <p:cNvPr id="146" name="" descr="{&quot;isTemplate&quot;:true,&quot;type&quot;:&quot;text&quot;}"/>
          <p:cNvSpPr txBox="1"/>
          <p:nvPr/>
        </p:nvSpPr>
        <p:spPr>
          <a:xfrm rot="0" flipH="0" flipV="0">
            <a:off x="10277475" y="495300"/>
            <a:ext cx="12287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spc="225">
                <a:solidFill>
                  <a:srgbClr val="94A3B8"/>
                </a:solidFill>
                <a:latin typeface="Microsoft YaHei"/>
                <a:ea typeface="Microsoft YaHei"/>
              </a:rPr>
              <a:t>03 · </a:t>
            </a:r>
            <a:r>
              <a:rPr lang="zh-CN" sz="1050" spc="225">
                <a:solidFill>
                  <a:srgbClr val="94A3B8"/>
                </a:solidFill>
                <a:latin typeface="Microsoft YaHei"/>
                <a:ea typeface="Microsoft YaHei"/>
              </a:rPr>
              <a:t>怎么做到的</a:t>
            </a:r>
            <a:endParaRPr/>
          </a:p>
        </p:txBody>
      </p:sp>
      <p:sp>
        <p:nvSpPr>
          <p:cNvPr id="147" name=""/>
          <p:cNvSpPr/>
          <p:nvPr/>
        </p:nvSpPr>
        <p:spPr>
          <a:xfrm rot="0" flipH="0" flipV="0">
            <a:off x="685800" y="1838325"/>
            <a:ext cx="3143250" cy="1190625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/>
        </p:spPr>
        <p:txBody>
          <a:bodyPr/>
          <a:p>
            <a:pPr/>
            <a:endParaRPr/>
          </a:p>
        </p:txBody>
      </p:sp>
      <p:sp>
        <p:nvSpPr>
          <p:cNvPr id="148" name="" descr="{&quot;isTemplate&quot;:true,&quot;type&quot;:&quot;text&quot;}"/>
          <p:cNvSpPr txBox="1"/>
          <p:nvPr/>
        </p:nvSpPr>
        <p:spPr>
          <a:xfrm rot="0" flipH="0" flipV="0">
            <a:off x="857250" y="1990725"/>
            <a:ext cx="280035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3B82F6"/>
                </a:solidFill>
                <a:latin typeface="Microsoft YaHei"/>
                <a:ea typeface="Microsoft YaHei"/>
              </a:rPr>
              <a:t>资料层</a:t>
            </a:r>
            <a:endParaRPr/>
          </a:p>
        </p:txBody>
      </p:sp>
      <p:sp>
        <p:nvSpPr>
          <p:cNvPr id="149" name="" descr="{&quot;isTemplate&quot;:true,&quot;type&quot;:&quot;text&quot;}"/>
          <p:cNvSpPr txBox="1"/>
          <p:nvPr/>
        </p:nvSpPr>
        <p:spPr>
          <a:xfrm rot="0" flipH="0" flipV="0">
            <a:off x="857250" y="2286000"/>
            <a:ext cx="2800350" cy="5905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en-US" sz="1200">
                <a:solidFill>
                  <a:srgbClr val="94A3B8"/>
                </a:solidFill>
                <a:latin typeface="Microsoft YaHei"/>
                <a:ea typeface="Microsoft YaHei"/>
              </a:rPr>
              <a:t>PDF / Word / MD </a:t>
            </a:r>
            <a:r>
              <a:rPr lang="zh-CN" sz="1200">
                <a:solidFill>
                  <a:srgbClr val="94A3B8"/>
                </a:solidFill>
                <a:latin typeface="Microsoft YaHei"/>
                <a:ea typeface="Microsoft YaHei"/>
              </a:rPr>
              <a:t>解析，整卷装载</a:t>
            </a:r>
            <a:r>
              <a:rPr lang="en-US" sz="1200">
                <a:solidFill>
                  <a:srgbClr val="94A3B8"/>
                </a:solidFill>
                <a:latin typeface="Microsoft YaHei"/>
                <a:ea typeface="Microsoft YaHei"/>
              </a:rPr>
              <a:t> ≤40 </a:t>
            </a:r>
            <a:r>
              <a:rPr lang="zh-CN" sz="1200">
                <a:solidFill>
                  <a:srgbClr val="94A3B8"/>
                </a:solidFill>
                <a:latin typeface="Microsoft YaHei"/>
                <a:ea typeface="Microsoft YaHei"/>
              </a:rPr>
              <a:t>万字，关键词检索兜底</a:t>
            </a:r>
            <a:endParaRPr/>
          </a:p>
        </p:txBody>
      </p:sp>
      <p:sp>
        <p:nvSpPr>
          <p:cNvPr id="150" name=""/>
          <p:cNvSpPr/>
          <p:nvPr/>
        </p:nvSpPr>
        <p:spPr>
          <a:xfrm rot="0" flipH="0" flipV="0">
            <a:off x="685800" y="3162300"/>
            <a:ext cx="3143250" cy="1190625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/>
        </p:spPr>
        <p:txBody>
          <a:bodyPr/>
          <a:p>
            <a:pPr/>
            <a:endParaRPr/>
          </a:p>
        </p:txBody>
      </p:sp>
      <p:sp>
        <p:nvSpPr>
          <p:cNvPr id="151" name="" descr="{&quot;isTemplate&quot;:true,&quot;type&quot;:&quot;text&quot;}"/>
          <p:cNvSpPr txBox="1"/>
          <p:nvPr/>
        </p:nvSpPr>
        <p:spPr>
          <a:xfrm rot="0" flipH="0" flipV="0">
            <a:off x="857250" y="3314700"/>
            <a:ext cx="280035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06B6D4"/>
                </a:solidFill>
                <a:latin typeface="Microsoft YaHei"/>
                <a:ea typeface="Microsoft YaHei"/>
              </a:rPr>
              <a:t>模型层</a:t>
            </a:r>
            <a:endParaRPr/>
          </a:p>
        </p:txBody>
      </p:sp>
      <p:sp>
        <p:nvSpPr>
          <p:cNvPr id="152" name="" descr="{&quot;isTemplate&quot;:true,&quot;type&quot;:&quot;text&quot;}"/>
          <p:cNvSpPr txBox="1"/>
          <p:nvPr/>
        </p:nvSpPr>
        <p:spPr>
          <a:xfrm rot="0" flipH="0" flipV="0">
            <a:off x="857250" y="3609975"/>
            <a:ext cx="2800350" cy="5905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en-US" sz="1200">
                <a:solidFill>
                  <a:srgbClr val="94A3B8"/>
                </a:solidFill>
                <a:latin typeface="Microsoft YaHei"/>
                <a:ea typeface="Microsoft YaHei"/>
              </a:rPr>
              <a:t>1.7B </a:t>
            </a:r>
            <a:r>
              <a:rPr lang="zh-CN" sz="1200">
                <a:solidFill>
                  <a:srgbClr val="94A3B8"/>
                </a:solidFill>
                <a:latin typeface="Microsoft YaHei"/>
                <a:ea typeface="Microsoft YaHei"/>
              </a:rPr>
              <a:t>常驻快答，</a:t>
            </a:r>
            <a:r>
              <a:rPr lang="en-US" sz="1200">
                <a:solidFill>
                  <a:srgbClr val="94A3B8"/>
                </a:solidFill>
                <a:latin typeface="Microsoft YaHei"/>
                <a:ea typeface="Microsoft YaHei"/>
              </a:rPr>
              <a:t>4B </a:t>
            </a:r>
            <a:r>
              <a:rPr lang="zh-CN" sz="1200">
                <a:solidFill>
                  <a:srgbClr val="94A3B8"/>
                </a:solidFill>
                <a:latin typeface="Microsoft YaHei"/>
                <a:ea typeface="Microsoft YaHei"/>
              </a:rPr>
              <a:t>按需深审；三档自适应路由</a:t>
            </a:r>
            <a:r>
              <a:rPr lang="en-US" sz="1200">
                <a:solidFill>
                  <a:srgbClr val="94A3B8"/>
                </a:solidFill>
                <a:latin typeface="Microsoft YaHei"/>
                <a:ea typeface="Microsoft YaHei"/>
              </a:rPr>
              <a:t> + </a:t>
            </a:r>
            <a:r>
              <a:rPr lang="zh-CN" sz="1200">
                <a:solidFill>
                  <a:srgbClr val="94A3B8"/>
                </a:solidFill>
                <a:latin typeface="Microsoft YaHei"/>
                <a:ea typeface="Microsoft YaHei"/>
              </a:rPr>
              <a:t>智能降级</a:t>
            </a:r>
            <a:endParaRPr/>
          </a:p>
        </p:txBody>
      </p:sp>
      <p:sp>
        <p:nvSpPr>
          <p:cNvPr id="153" name=""/>
          <p:cNvSpPr/>
          <p:nvPr/>
        </p:nvSpPr>
        <p:spPr>
          <a:xfrm rot="0" flipH="0" flipV="0">
            <a:off x="685800" y="4486275"/>
            <a:ext cx="3143250" cy="1190625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/>
        </p:spPr>
        <p:txBody>
          <a:bodyPr/>
          <a:p>
            <a:pPr/>
            <a:endParaRPr/>
          </a:p>
        </p:txBody>
      </p:sp>
      <p:sp>
        <p:nvSpPr>
          <p:cNvPr id="154" name="" descr="{&quot;isTemplate&quot;:true,&quot;type&quot;:&quot;text&quot;}"/>
          <p:cNvSpPr txBox="1"/>
          <p:nvPr/>
        </p:nvSpPr>
        <p:spPr>
          <a:xfrm rot="0" flipH="0" flipV="0">
            <a:off x="857250" y="4638675"/>
            <a:ext cx="280035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3B82F6"/>
                </a:solidFill>
                <a:latin typeface="Microsoft YaHei"/>
                <a:ea typeface="Microsoft YaHei"/>
              </a:rPr>
              <a:t>校验层</a:t>
            </a:r>
            <a:endParaRPr/>
          </a:p>
        </p:txBody>
      </p:sp>
      <p:sp>
        <p:nvSpPr>
          <p:cNvPr id="155" name="" descr="{&quot;isTemplate&quot;:true,&quot;type&quot;:&quot;text&quot;}"/>
          <p:cNvSpPr txBox="1"/>
          <p:nvPr/>
        </p:nvSpPr>
        <p:spPr>
          <a:xfrm rot="0" flipH="0" flipV="0">
            <a:off x="857250" y="4933950"/>
            <a:ext cx="2800350" cy="5905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200">
                <a:solidFill>
                  <a:srgbClr val="94A3B8"/>
                </a:solidFill>
                <a:latin typeface="Microsoft YaHei"/>
                <a:ea typeface="Microsoft YaHei"/>
              </a:rPr>
              <a:t>逐句</a:t>
            </a:r>
            <a:r>
              <a:rPr lang="en-US" sz="1200">
                <a:solidFill>
                  <a:srgbClr val="94A3B8"/>
                </a:solidFill>
                <a:latin typeface="Microsoft YaHei"/>
                <a:ea typeface="Microsoft YaHei"/>
              </a:rPr>
              <a:t> 8-gram </a:t>
            </a:r>
            <a:r>
              <a:rPr lang="zh-CN" sz="1200">
                <a:solidFill>
                  <a:srgbClr val="94A3B8"/>
                </a:solidFill>
                <a:latin typeface="Microsoft YaHei"/>
                <a:ea typeface="Microsoft YaHei"/>
              </a:rPr>
              <a:t>回查原文，命中率分级标注，定位到页码</a:t>
            </a:r>
            <a:endParaRPr/>
          </a:p>
        </p:txBody>
      </p:sp>
      <p:pic>
        <p:nvPicPr>
          <p:cNvPr id="156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4343400" y="1276350"/>
            <a:ext cx="6915150" cy="4953000"/>
          </a:xfrm>
          <a:prstGeom prst="rect">
            <a:avLst/>
          </a:prstGeom>
          <a:ln/>
        </p:spPr>
      </p:pic>
      <p:sp>
        <p:nvSpPr>
          <p:cNvPr id="157" name="" descr="{&quot;isTemplate&quot;:true,&quot;type&quot;:&quot;text&quot;}"/>
          <p:cNvSpPr txBox="1"/>
          <p:nvPr/>
        </p:nvSpPr>
        <p:spPr>
          <a:xfrm rot="0" flipH="0" flipV="0">
            <a:off x="685800" y="6457950"/>
            <a:ext cx="17716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94A3B8"/>
                </a:solidFill>
                <a:latin typeface="Microsoft YaHei"/>
                <a:ea typeface="Microsoft YaHei"/>
              </a:rPr>
              <a:t>卷宗</a:t>
            </a:r>
            <a:r>
              <a:rPr lang="en-US" sz="1050">
                <a:solidFill>
                  <a:srgbClr val="94A3B8"/>
                </a:solidFill>
                <a:latin typeface="Microsoft YaHei"/>
                <a:ea typeface="Microsoft YaHei"/>
              </a:rPr>
              <a:t> · Spark-X2.5 </a:t>
            </a:r>
            <a:r>
              <a:rPr lang="zh-CN" sz="1050">
                <a:solidFill>
                  <a:srgbClr val="94A3B8"/>
                </a:solidFill>
                <a:latin typeface="Microsoft YaHei"/>
                <a:ea typeface="Microsoft YaHei"/>
              </a:rPr>
              <a:t>端侧挑战赛</a:t>
            </a:r>
            <a:endParaRPr/>
          </a:p>
        </p:txBody>
      </p:sp>
      <p:sp>
        <p:nvSpPr>
          <p:cNvPr id="158" name="" descr="{&quot;isTemplate&quot;:true,&quot;type&quot;:&quot;text&quot;}"/>
          <p:cNvSpPr txBox="1"/>
          <p:nvPr/>
        </p:nvSpPr>
        <p:spPr>
          <a:xfrm rot="0" flipH="0" flipV="0">
            <a:off x="11049000" y="645795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94A3B8"/>
                </a:solidFill>
                <a:latin typeface="Microsoft YaHei"/>
                <a:ea typeface="Microsoft YaHei"/>
              </a:rPr>
              <a:t>04 / 12</a:t>
            </a:r>
            <a:endParaRPr/>
          </a:p>
        </p:txBody>
      </p:sp>
    </p:spTree>
  </p:cSld>
</p:sld>
</file>

<file path=ppt/slides/slide5.xml><?xml version="1.0" encoding="utf-8"?>
<p:sld xmlns:p="http://schemas.openxmlformats.org/presentationml/2006/main" xmlns:r="http://schemas.openxmlformats.org/officeDocument/2006/relationships" xmlns:a="http://schemas.openxmlformats.org/drawingml/2006/main" xmlns:asvg="http://schemas.microsoft.com/office/drawing/2016/SVG/main" xmlns:a16="http://schemas.microsoft.com/office/drawing/2014/main" xmlns:mc="http://schemas.openxmlformats.org/markup-compatibility/2006" mc:Ignorable="asvg a16">
  <p:cSld>
    <p:spTree>
      <p:nvGrpSpPr>
        <p:cNvPr id="15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p>
            <a:pPr/>
            <a:endParaRPr/>
          </a:p>
        </p:txBody>
      </p:sp>
      <p:sp>
        <p:nvSpPr>
          <p:cNvPr id="161" name="" descr="{&quot;isTemplate&quot;:true,&quot;type&quot;:&quot;text&quot;}"/>
          <p:cNvSpPr txBox="1"/>
          <p:nvPr/>
        </p:nvSpPr>
        <p:spPr>
          <a:xfrm rot="0" flipH="0" flipV="0">
            <a:off x="685800" y="381000"/>
            <a:ext cx="3362325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F1F5F9"/>
                </a:solidFill>
                <a:latin typeface="Microsoft YaHei"/>
                <a:ea typeface="Microsoft YaHei"/>
              </a:rPr>
              <a:t>三档自适应</a:t>
            </a:r>
            <a:r>
              <a:rPr lang="en-US" sz="2550" b="1">
                <a:solidFill>
                  <a:srgbClr val="F1F5F9"/>
                </a:solidFill>
                <a:latin typeface="Microsoft YaHei"/>
                <a:ea typeface="Microsoft YaHei"/>
              </a:rPr>
              <a:t> + </a:t>
            </a:r>
            <a:r>
              <a:rPr lang="zh-CN" sz="2550" b="1">
                <a:solidFill>
                  <a:srgbClr val="F1F5F9"/>
                </a:solidFill>
                <a:latin typeface="Microsoft YaHei"/>
                <a:ea typeface="Microsoft YaHei"/>
              </a:rPr>
              <a:t>流式输出</a:t>
            </a:r>
            <a:endParaRPr/>
          </a:p>
        </p:txBody>
      </p:sp>
      <p:sp>
        <p:nvSpPr>
          <p:cNvPr id="162" name="" descr="{&quot;isTemplate&quot;:true,&quot;type&quot;:&quot;text&quot;}"/>
          <p:cNvSpPr txBox="1"/>
          <p:nvPr/>
        </p:nvSpPr>
        <p:spPr>
          <a:xfrm rot="0" flipH="0" flipV="0">
            <a:off x="10277475" y="495300"/>
            <a:ext cx="12287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spc="225">
                <a:solidFill>
                  <a:srgbClr val="94A3B8"/>
                </a:solidFill>
                <a:latin typeface="Microsoft YaHei"/>
                <a:ea typeface="Microsoft YaHei"/>
              </a:rPr>
              <a:t>03 · </a:t>
            </a:r>
            <a:r>
              <a:rPr lang="zh-CN" sz="1050" spc="225">
                <a:solidFill>
                  <a:srgbClr val="94A3B8"/>
                </a:solidFill>
                <a:latin typeface="Microsoft YaHei"/>
                <a:ea typeface="Microsoft YaHei"/>
              </a:rPr>
              <a:t>怎么做到的</a:t>
            </a:r>
            <a:endParaRPr/>
          </a:p>
        </p:txBody>
      </p:sp>
      <p:graphicFrame>
        <p:nvGraphicFramePr>
          <p:cNvPr id="163" name=""/>
          <p:cNvGraphicFramePr/>
          <p:nvPr/>
        </p:nvGraphicFramePr>
        <p:xfrm rot="0" flipH="0" flipV="0">
          <a:off x="685800" y="1104900"/>
          <a:ext cx="6438900" cy="2495550"/>
        </p:xfrm>
        <a:graphic>
          <a:graphicData uri="http://schemas.openxmlformats.org/drawingml/2006/table">
            <a:tbl>
              <a:tblGrid>
                <a:gridCol w="684055">
                  <a:extLst>
                    <a:ext uri="{9D8B030D-6E8A-4147-A177-3AD203B41FA5}">
                      <a16:colId val="1"/>
                    </a:ext>
                  </a:extLst>
                </a:gridCol>
                <a:gridCol w="1719550">
                  <a:extLst>
                    <a:ext uri="{9D8B030D-6E8A-4147-A177-3AD203B41FA5}">
                      <a16:colId val="2"/>
                    </a:ext>
                  </a:extLst>
                </a:gridCol>
                <a:gridCol w="1217492">
                  <a:extLst>
                    <a:ext uri="{9D8B030D-6E8A-4147-A177-3AD203B41FA5}">
                      <a16:colId val="3"/>
                    </a:ext>
                  </a:extLst>
                </a:gridCol>
                <a:gridCol w="2817803">
                  <a:extLst>
                    <a:ext uri="{9D8B030D-6E8A-4147-A177-3AD203B41FA5}">
                      <a16:colId val="4"/>
                    </a:ext>
                  </a:extLst>
                </a:gridCol>
              </a:tblGrid>
              <a:tr h="623888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75" b="1">
                          <a:solidFill>
                            <a:srgbClr val="3B82F6"/>
                          </a:solidFill>
                          <a:latin typeface="Microsoft YaHei"/>
                          <a:ea typeface="Microsoft YaHei"/>
                        </a:rPr>
                        <a:t>档位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75" b="1">
                          <a:solidFill>
                            <a:srgbClr val="3B82F6"/>
                          </a:solidFill>
                          <a:latin typeface="Microsoft YaHei"/>
                          <a:ea typeface="Microsoft YaHei"/>
                        </a:rPr>
                        <a:t>模型 · 思考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75" b="1">
                          <a:solidFill>
                            <a:srgbClr val="3B82F6"/>
                          </a:solidFill>
                          <a:latin typeface="Microsoft YaHei"/>
                          <a:ea typeface="Microsoft YaHei"/>
                        </a:rPr>
                        <a:t>端侧时延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75" b="1">
                          <a:solidFill>
                            <a:srgbClr val="3B82F6"/>
                          </a:solidFill>
                          <a:latin typeface="Microsoft YaHei"/>
                          <a:ea typeface="Microsoft YaHei"/>
                        </a:rPr>
                        <a:t>适用场景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val="1"/>
                  </a:ext>
                </a:extLst>
              </a:tr>
              <a:tr h="623888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75">
                          <a:solidFill>
                            <a:srgbClr val="F1F5F9"/>
                          </a:solidFill>
                          <a:latin typeface="Microsoft YaHei"/>
                          <a:ea typeface="Microsoft YaHei"/>
                        </a:rPr>
                        <a:t>轻档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75">
                          <a:solidFill>
                            <a:srgbClr val="F1F5F9"/>
                          </a:solidFill>
                          <a:latin typeface="Microsoft YaHei"/>
                          <a:ea typeface="Microsoft YaHei"/>
                        </a:rPr>
                        <a:t>1.7B · 关思考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75">
                          <a:solidFill>
                            <a:srgbClr val="F1F5F9"/>
                          </a:solidFill>
                          <a:latin typeface="Microsoft YaHei"/>
                          <a:ea typeface="Microsoft YaHei"/>
                        </a:rPr>
                        <a:t>0.4–0.9s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75">
                          <a:solidFill>
                            <a:srgbClr val="F1F5F9"/>
                          </a:solidFill>
                          <a:latin typeface="Microsoft YaHei"/>
                          <a:ea typeface="Microsoft YaHei"/>
                        </a:rPr>
                        <a:t>快问快答、术语解释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val="2"/>
                  </a:ext>
                </a:extLst>
              </a:tr>
              <a:tr h="623888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75">
                          <a:solidFill>
                            <a:srgbClr val="F1F5F9"/>
                          </a:solidFill>
                          <a:latin typeface="Microsoft YaHei"/>
                          <a:ea typeface="Microsoft YaHei"/>
                        </a:rPr>
                        <a:t>中档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B82F6">
                        <a:alpha val="8000"/>
                      </a:srgbClr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75">
                          <a:solidFill>
                            <a:srgbClr val="F1F5F9"/>
                          </a:solidFill>
                          <a:latin typeface="Microsoft YaHei"/>
                          <a:ea typeface="Microsoft YaHei"/>
                        </a:rPr>
                        <a:t>1.7B · 开思考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B82F6">
                        <a:alpha val="8000"/>
                      </a:srgbClr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75">
                          <a:solidFill>
                            <a:srgbClr val="F1F5F9"/>
                          </a:solidFill>
                          <a:latin typeface="Microsoft YaHei"/>
                          <a:ea typeface="Microsoft YaHei"/>
                        </a:rPr>
                        <a:t>约 2s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B82F6">
                        <a:alpha val="8000"/>
                      </a:srgbClr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75">
                          <a:solidFill>
                            <a:srgbClr val="F1F5F9"/>
                          </a:solidFill>
                          <a:latin typeface="Microsoft YaHei"/>
                          <a:ea typeface="Microsoft YaHei"/>
                        </a:rPr>
                        <a:t>单条款分析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B82F6">
                        <a:alpha val="8000"/>
                      </a:srgbClr>
                    </a:solidFill>
                  </a:tcPr>
                </a:tc>
                <a:extLst>
                  <a:ext uri="{0D108BD9-81ED-4DB2-BD59-A6C34878D82A}">
                    <a16:rowId val="3"/>
                  </a:ext>
                </a:extLst>
              </a:tr>
              <a:tr h="623888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75">
                          <a:solidFill>
                            <a:srgbClr val="F1F5F9"/>
                          </a:solidFill>
                          <a:latin typeface="Microsoft YaHei"/>
                          <a:ea typeface="Microsoft YaHei"/>
                        </a:rPr>
                        <a:t>深档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75">
                          <a:solidFill>
                            <a:srgbClr val="06B6D4"/>
                          </a:solidFill>
                          <a:latin typeface="Microsoft YaHei"/>
                          <a:ea typeface="Microsoft YaHei"/>
                        </a:rPr>
                        <a:t>4B · 开思考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75">
                          <a:solidFill>
                            <a:srgbClr val="06B6D4"/>
                          </a:solidFill>
                          <a:latin typeface="Microsoft YaHei"/>
                          <a:ea typeface="Microsoft YaHei"/>
                        </a:rPr>
                        <a:t>39–48s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75">
                          <a:solidFill>
                            <a:srgbClr val="F1F5F9"/>
                          </a:solidFill>
                          <a:latin typeface="Microsoft YaHei"/>
                          <a:ea typeface="Microsoft YaHei"/>
                        </a:rPr>
                        <a:t>跨条款审阅、矛盾核查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val="4"/>
                  </a:ext>
                </a:extLst>
              </a:tr>
            </a:tbl>
          </a:graphicData>
        </a:graphic>
      </p:graphicFrame>
      <p:sp>
        <p:nvSpPr>
          <p:cNvPr id="164" name="" descr="{&quot;isTemplate&quot;:true,&quot;type&quot;:&quot;text&quot;}"/>
          <p:cNvSpPr txBox="1"/>
          <p:nvPr/>
        </p:nvSpPr>
        <p:spPr>
          <a:xfrm rot="0" flipH="0" flipV="0">
            <a:off x="685800" y="3752850"/>
            <a:ext cx="6438900" cy="5905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200">
                <a:solidFill>
                  <a:srgbClr val="94A3B8"/>
                </a:solidFill>
                <a:latin typeface="Microsoft YaHei"/>
                <a:ea typeface="Microsoft YaHei"/>
              </a:rPr>
              <a:t>路由按问题复杂度自动选档，用户可手动指定；思考档位由</a:t>
            </a:r>
            <a:r>
              <a:rPr lang="en-US" sz="1200">
                <a:solidFill>
                  <a:srgbClr val="94A3B8"/>
                </a:solidFill>
                <a:latin typeface="Microsoft YaHei"/>
                <a:ea typeface="Microsoft YaHei"/>
              </a:rPr>
              <a:t> chat template </a:t>
            </a:r>
            <a:r>
              <a:rPr lang="zh-CN" sz="1200">
                <a:solidFill>
                  <a:srgbClr val="94A3B8"/>
                </a:solidFill>
                <a:latin typeface="Microsoft YaHei"/>
                <a:ea typeface="Microsoft YaHei"/>
              </a:rPr>
              <a:t>的</a:t>
            </a:r>
            <a:r>
              <a:rPr lang="en-US" sz="1200">
                <a:solidFill>
                  <a:srgbClr val="94A3B8"/>
                </a:solidFill>
                <a:latin typeface="Microsoft YaHei"/>
                <a:ea typeface="Microsoft YaHei"/>
              </a:rPr>
              <a:t> enable_thinking </a:t>
            </a:r>
            <a:r>
              <a:rPr lang="zh-CN" sz="1200">
                <a:solidFill>
                  <a:srgbClr val="94A3B8"/>
                </a:solidFill>
                <a:latin typeface="Microsoft YaHei"/>
                <a:ea typeface="Microsoft YaHei"/>
              </a:rPr>
              <a:t>开关驱动。</a:t>
            </a:r>
            <a:endParaRPr/>
          </a:p>
        </p:txBody>
      </p:sp>
      <p:sp>
        <p:nvSpPr>
          <p:cNvPr id="165" name=""/>
          <p:cNvSpPr/>
          <p:nvPr/>
        </p:nvSpPr>
        <p:spPr>
          <a:xfrm rot="0" flipH="0" flipV="0">
            <a:off x="714375" y="4495800"/>
            <a:ext cx="6438900" cy="561975"/>
          </a:xfrm>
          <a:prstGeom prst="roundRect">
            <a:avLst>
              <a:gd name="adj" fmla="val 16949"/>
            </a:avLst>
          </a:prstGeom>
          <a:solidFill>
            <a:srgbClr val="1E293B"/>
          </a:solidFill>
          <a:ln/>
        </p:spPr>
        <p:txBody>
          <a:bodyPr/>
          <a:p>
            <a:pPr/>
            <a:endParaRPr/>
          </a:p>
        </p:txBody>
      </p:sp>
      <p:sp>
        <p:nvSpPr>
          <p:cNvPr id="166" name=""/>
          <p:cNvSpPr/>
          <p:nvPr/>
        </p:nvSpPr>
        <p:spPr>
          <a:xfrm rot="0" flipH="0" flipV="0">
            <a:off x="714375" y="4495800"/>
            <a:ext cx="6438900" cy="561975"/>
          </a:xfrm>
          <a:custGeom>
            <a:pathLst>
              <a:path w="676" h="59">
                <a:moveTo>
                  <a:pt x="9" y="0"/>
                </a:moveTo>
                <a:cubicBezTo>
                  <a:pt x="6" y="0"/>
                  <a:pt x="3" y="3"/>
                  <a:pt x="3" y="7"/>
                </a:cubicBezTo>
                <a:lnTo>
                  <a:pt x="3" y="52"/>
                </a:lnTo>
                <a:cubicBezTo>
                  <a:pt x="3" y="55"/>
                  <a:pt x="5" y="58"/>
                  <a:pt x="8" y="59"/>
                </a:cubicBezTo>
                <a:cubicBezTo>
                  <a:pt x="3" y="58"/>
                  <a:pt x="0" y="54"/>
                  <a:pt x="0" y="49"/>
                </a:cubicBezTo>
                <a:lnTo>
                  <a:pt x="0" y="10"/>
                </a:lnTo>
                <a:cubicBezTo>
                  <a:pt x="0" y="5"/>
                  <a:pt x="4" y="0"/>
                  <a:pt x="10" y="0"/>
                </a:cubicBezTo>
                <a:close/>
              </a:path>
            </a:pathLst>
          </a:custGeom>
          <a:solidFill>
            <a:srgbClr val="F59E0B"/>
          </a:solidFill>
          <a:ln/>
        </p:spPr>
        <p:txBody>
          <a:bodyPr/>
          <a:p>
            <a:pPr/>
            <a:endParaRPr/>
          </a:p>
        </p:txBody>
      </p:sp>
      <p:sp>
        <p:nvSpPr>
          <p:cNvPr id="167" name="" descr="{&quot;isTemplate&quot;:true,&quot;type&quot;:&quot;text&quot;}"/>
          <p:cNvSpPr txBox="1"/>
          <p:nvPr/>
        </p:nvSpPr>
        <p:spPr>
          <a:xfrm rot="0" flipH="0" flipV="0">
            <a:off x="885825" y="4629150"/>
            <a:ext cx="6067425" cy="2952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200" b="1">
                <a:solidFill>
                  <a:srgbClr val="F59E0B"/>
                </a:solidFill>
                <a:latin typeface="Microsoft YaHei"/>
                <a:ea typeface="Microsoft YaHei"/>
              </a:rPr>
              <a:t>智能降级：</a:t>
            </a:r>
            <a:r>
              <a:rPr lang="en-US" sz="1200">
                <a:solidFill>
                  <a:srgbClr val="F1F5F9"/>
                </a:solidFill>
                <a:latin typeface="Microsoft YaHei"/>
                <a:ea typeface="Microsoft YaHei"/>
              </a:rPr>
              <a:t>1.7B </a:t>
            </a:r>
            <a:r>
              <a:rPr lang="zh-CN" sz="1200">
                <a:solidFill>
                  <a:srgbClr val="F1F5F9"/>
                </a:solidFill>
                <a:latin typeface="Microsoft YaHei"/>
                <a:ea typeface="Microsoft YaHei"/>
              </a:rPr>
              <a:t>开思考超限无正文时，自动关思考重试——快答永不空手而归。</a:t>
            </a:r>
            <a:endParaRPr/>
          </a:p>
        </p:txBody>
      </p:sp>
      <p:pic>
        <p:nvPicPr>
          <p:cNvPr id="168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7410450" y="2419350"/>
            <a:ext cx="4095750" cy="2667000"/>
          </a:xfrm>
          <a:prstGeom prst="rect">
            <a:avLst/>
          </a:prstGeom>
          <a:ln/>
        </p:spPr>
      </p:pic>
      <p:sp>
        <p:nvSpPr>
          <p:cNvPr id="169" name="" descr="{&quot;isTemplate&quot;:true,&quot;type&quot;:&quot;text&quot;}"/>
          <p:cNvSpPr txBox="1"/>
          <p:nvPr/>
        </p:nvSpPr>
        <p:spPr>
          <a:xfrm rot="0" flipH="0" flipV="0">
            <a:off x="685800" y="6457950"/>
            <a:ext cx="17716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94A3B8"/>
                </a:solidFill>
                <a:latin typeface="Microsoft YaHei"/>
                <a:ea typeface="Microsoft YaHei"/>
              </a:rPr>
              <a:t>卷宗</a:t>
            </a:r>
            <a:r>
              <a:rPr lang="en-US" sz="1050">
                <a:solidFill>
                  <a:srgbClr val="94A3B8"/>
                </a:solidFill>
                <a:latin typeface="Microsoft YaHei"/>
                <a:ea typeface="Microsoft YaHei"/>
              </a:rPr>
              <a:t> · Spark-X2.5 </a:t>
            </a:r>
            <a:r>
              <a:rPr lang="zh-CN" sz="1050">
                <a:solidFill>
                  <a:srgbClr val="94A3B8"/>
                </a:solidFill>
                <a:latin typeface="Microsoft YaHei"/>
                <a:ea typeface="Microsoft YaHei"/>
              </a:rPr>
              <a:t>端侧挑战赛</a:t>
            </a:r>
            <a:endParaRPr/>
          </a:p>
        </p:txBody>
      </p:sp>
      <p:sp>
        <p:nvSpPr>
          <p:cNvPr id="170" name="" descr="{&quot;isTemplate&quot;:true,&quot;type&quot;:&quot;text&quot;}"/>
          <p:cNvSpPr txBox="1"/>
          <p:nvPr/>
        </p:nvSpPr>
        <p:spPr>
          <a:xfrm rot="0" flipH="0" flipV="0">
            <a:off x="11049000" y="645795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94A3B8"/>
                </a:solidFill>
                <a:latin typeface="Microsoft YaHei"/>
                <a:ea typeface="Microsoft YaHei"/>
              </a:rPr>
              <a:t>05 / 12</a:t>
            </a:r>
            <a:endParaRPr/>
          </a:p>
        </p:txBody>
      </p:sp>
    </p:spTree>
  </p:cSld>
</p:sld>
</file>

<file path=ppt/slides/slide6.xml><?xml version="1.0" encoding="utf-8"?>
<p:sld xmlns:p="http://schemas.openxmlformats.org/presentationml/2006/main" xmlns:a="http://schemas.openxmlformats.org/drawingml/2006/main" xmlns:a16="http://schemas.microsoft.com/office/drawing/2014/main" xmlns:mc="http://schemas.openxmlformats.org/markup-compatibility/2006" mc:Ignorable="a16">
  <p:cSld>
    <p:spTree>
      <p:nvGrpSpPr>
        <p:cNvPr id="17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p>
            <a:pPr/>
            <a:endParaRPr/>
          </a:p>
        </p:txBody>
      </p:sp>
      <p:sp>
        <p:nvSpPr>
          <p:cNvPr id="173" name="" descr="{&quot;isTemplate&quot;:true,&quot;type&quot;:&quot;text&quot;}"/>
          <p:cNvSpPr txBox="1"/>
          <p:nvPr/>
        </p:nvSpPr>
        <p:spPr>
          <a:xfrm rot="0" flipH="0" flipV="0">
            <a:off x="685800" y="381000"/>
            <a:ext cx="32385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F1F5F9"/>
                </a:solidFill>
                <a:latin typeface="Microsoft YaHei"/>
                <a:ea typeface="Microsoft YaHei"/>
              </a:rPr>
              <a:t>溯源校验：凭什么信它</a:t>
            </a:r>
            <a:endParaRPr/>
          </a:p>
        </p:txBody>
      </p:sp>
      <p:sp>
        <p:nvSpPr>
          <p:cNvPr id="174" name="" descr="{&quot;isTemplate&quot;:true,&quot;type&quot;:&quot;text&quot;}"/>
          <p:cNvSpPr txBox="1"/>
          <p:nvPr/>
        </p:nvSpPr>
        <p:spPr>
          <a:xfrm rot="0" flipH="0" flipV="0">
            <a:off x="10439400" y="495300"/>
            <a:ext cx="10668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spc="225">
                <a:solidFill>
                  <a:srgbClr val="94A3B8"/>
                </a:solidFill>
                <a:latin typeface="Microsoft YaHei"/>
                <a:ea typeface="Microsoft YaHei"/>
              </a:rPr>
              <a:t>04 · </a:t>
            </a:r>
            <a:r>
              <a:rPr lang="zh-CN" sz="1050" spc="225">
                <a:solidFill>
                  <a:srgbClr val="94A3B8"/>
                </a:solidFill>
                <a:latin typeface="Microsoft YaHei"/>
                <a:ea typeface="Microsoft YaHei"/>
              </a:rPr>
              <a:t>可信溯源</a:t>
            </a:r>
            <a:endParaRPr/>
          </a:p>
        </p:txBody>
      </p:sp>
      <p:sp>
        <p:nvSpPr>
          <p:cNvPr id="175" name=""/>
          <p:cNvSpPr/>
          <p:nvPr/>
        </p:nvSpPr>
        <p:spPr>
          <a:xfrm rot="0" flipH="0" flipV="0">
            <a:off x="685800" y="1104900"/>
            <a:ext cx="876300" cy="323850"/>
          </a:xfrm>
          <a:prstGeom prst="roundRect">
            <a:avLst>
              <a:gd name="adj" fmla="val 17647"/>
            </a:avLst>
          </a:prstGeom>
          <a:solidFill>
            <a:srgbClr val="1E293B"/>
          </a:solidFill>
          <a:ln/>
        </p:spPr>
        <p:txBody>
          <a:bodyPr/>
          <a:p>
            <a:pPr/>
            <a:endParaRPr/>
          </a:p>
        </p:txBody>
      </p:sp>
      <p:sp>
        <p:nvSpPr>
          <p:cNvPr id="176" name="" descr="{&quot;isTemplate&quot;:true,&quot;type&quot;:&quot;text&quot;}"/>
          <p:cNvSpPr txBox="1"/>
          <p:nvPr/>
        </p:nvSpPr>
        <p:spPr>
          <a:xfrm rot="0" flipH="0" flipV="0">
            <a:off x="838200" y="1181100"/>
            <a:ext cx="5715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F1F5F9"/>
                </a:solidFill>
                <a:latin typeface="Microsoft YaHei"/>
                <a:ea typeface="Microsoft YaHei"/>
              </a:rPr>
              <a:t>回答切句</a:t>
            </a:r>
            <a:endParaRPr/>
          </a:p>
        </p:txBody>
      </p:sp>
      <p:sp>
        <p:nvSpPr>
          <p:cNvPr id="177" name="" descr="{&quot;isTemplate&quot;:true,&quot;type&quot;:&quot;text&quot;}"/>
          <p:cNvSpPr txBox="1"/>
          <p:nvPr/>
        </p:nvSpPr>
        <p:spPr>
          <a:xfrm rot="0" flipH="0" flipV="0">
            <a:off x="1657350" y="1171575"/>
            <a:ext cx="1524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200">
                <a:solidFill>
                  <a:srgbClr val="94A3B8"/>
                </a:solidFill>
                <a:latin typeface="Microsoft YaHei"/>
                <a:ea typeface="Microsoft YaHei"/>
              </a:rPr>
              <a:t>→</a:t>
            </a:r>
            <a:endParaRPr/>
          </a:p>
        </p:txBody>
      </p:sp>
      <p:sp>
        <p:nvSpPr>
          <p:cNvPr id="178" name=""/>
          <p:cNvSpPr/>
          <p:nvPr/>
        </p:nvSpPr>
        <p:spPr>
          <a:xfrm rot="0" flipH="0" flipV="0">
            <a:off x="1905000" y="1104900"/>
            <a:ext cx="1143000" cy="323850"/>
          </a:xfrm>
          <a:prstGeom prst="roundRect">
            <a:avLst>
              <a:gd name="adj" fmla="val 17647"/>
            </a:avLst>
          </a:prstGeom>
          <a:solidFill>
            <a:srgbClr val="1E293B"/>
          </a:solidFill>
          <a:ln/>
        </p:spPr>
        <p:txBody>
          <a:bodyPr/>
          <a:p>
            <a:pPr/>
            <a:endParaRPr/>
          </a:p>
        </p:txBody>
      </p:sp>
      <p:sp>
        <p:nvSpPr>
          <p:cNvPr id="179" name="" descr="{&quot;isTemplate&quot;:true,&quot;type&quot;:&quot;text&quot;}"/>
          <p:cNvSpPr txBox="1"/>
          <p:nvPr/>
        </p:nvSpPr>
        <p:spPr>
          <a:xfrm rot="0" flipH="0" flipV="0">
            <a:off x="2057400" y="1181100"/>
            <a:ext cx="8382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F1F5F9"/>
                </a:solidFill>
                <a:latin typeface="Microsoft YaHei"/>
                <a:ea typeface="Microsoft YaHei"/>
              </a:rPr>
              <a:t>8-gram </a:t>
            </a:r>
            <a:r>
              <a:rPr lang="zh-CN" sz="1125">
                <a:solidFill>
                  <a:srgbClr val="F1F5F9"/>
                </a:solidFill>
                <a:latin typeface="Microsoft YaHei"/>
                <a:ea typeface="Microsoft YaHei"/>
              </a:rPr>
              <a:t>指纹</a:t>
            </a:r>
            <a:endParaRPr/>
          </a:p>
        </p:txBody>
      </p:sp>
      <p:sp>
        <p:nvSpPr>
          <p:cNvPr id="180" name="" descr="{&quot;isTemplate&quot;:true,&quot;type&quot;:&quot;text&quot;}"/>
          <p:cNvSpPr txBox="1"/>
          <p:nvPr/>
        </p:nvSpPr>
        <p:spPr>
          <a:xfrm rot="0" flipH="0" flipV="0">
            <a:off x="3143250" y="1171575"/>
            <a:ext cx="1524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200">
                <a:solidFill>
                  <a:srgbClr val="94A3B8"/>
                </a:solidFill>
                <a:latin typeface="Microsoft YaHei"/>
                <a:ea typeface="Microsoft YaHei"/>
              </a:rPr>
              <a:t>→</a:t>
            </a:r>
            <a:endParaRPr/>
          </a:p>
        </p:txBody>
      </p:sp>
      <p:sp>
        <p:nvSpPr>
          <p:cNvPr id="181" name=""/>
          <p:cNvSpPr/>
          <p:nvPr/>
        </p:nvSpPr>
        <p:spPr>
          <a:xfrm rot="0" flipH="0" flipV="0">
            <a:off x="3390900" y="1104900"/>
            <a:ext cx="1162050" cy="323850"/>
          </a:xfrm>
          <a:prstGeom prst="roundRect">
            <a:avLst>
              <a:gd name="adj" fmla="val 17647"/>
            </a:avLst>
          </a:prstGeom>
          <a:solidFill>
            <a:srgbClr val="1E293B"/>
          </a:solidFill>
          <a:ln/>
        </p:spPr>
        <p:txBody>
          <a:bodyPr/>
          <a:p>
            <a:pPr/>
            <a:endParaRPr/>
          </a:p>
        </p:txBody>
      </p:sp>
      <p:sp>
        <p:nvSpPr>
          <p:cNvPr id="182" name="" descr="{&quot;isTemplate&quot;:true,&quot;type&quot;:&quot;text&quot;}"/>
          <p:cNvSpPr txBox="1"/>
          <p:nvPr/>
        </p:nvSpPr>
        <p:spPr>
          <a:xfrm rot="0" flipH="0" flipV="0">
            <a:off x="3543300" y="1181100"/>
            <a:ext cx="8572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F1F5F9"/>
                </a:solidFill>
                <a:latin typeface="Microsoft YaHei"/>
                <a:ea typeface="Microsoft YaHei"/>
              </a:rPr>
              <a:t>回查原文索引</a:t>
            </a:r>
            <a:endParaRPr/>
          </a:p>
        </p:txBody>
      </p:sp>
      <p:sp>
        <p:nvSpPr>
          <p:cNvPr id="183" name="" descr="{&quot;isTemplate&quot;:true,&quot;type&quot;:&quot;text&quot;}"/>
          <p:cNvSpPr txBox="1"/>
          <p:nvPr/>
        </p:nvSpPr>
        <p:spPr>
          <a:xfrm rot="0" flipH="0" flipV="0">
            <a:off x="4648200" y="1171575"/>
            <a:ext cx="1524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200">
                <a:solidFill>
                  <a:srgbClr val="94A3B8"/>
                </a:solidFill>
                <a:latin typeface="Microsoft YaHei"/>
                <a:ea typeface="Microsoft YaHei"/>
              </a:rPr>
              <a:t>→</a:t>
            </a:r>
            <a:endParaRPr/>
          </a:p>
        </p:txBody>
      </p:sp>
      <p:sp>
        <p:nvSpPr>
          <p:cNvPr id="184" name=""/>
          <p:cNvSpPr/>
          <p:nvPr/>
        </p:nvSpPr>
        <p:spPr>
          <a:xfrm rot="0" flipH="0" flipV="0">
            <a:off x="4895850" y="1104900"/>
            <a:ext cx="1019175" cy="323850"/>
          </a:xfrm>
          <a:prstGeom prst="roundRect">
            <a:avLst>
              <a:gd name="adj" fmla="val 17647"/>
            </a:avLst>
          </a:prstGeom>
          <a:solidFill>
            <a:srgbClr val="06B6D4">
              <a:alpha val="15000"/>
            </a:srgbClr>
          </a:solidFill>
          <a:ln w="12700">
            <a:solidFill>
              <a:srgbClr val="06B6D4">
                <a:alpha val="5000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85" name="" descr="{&quot;isTemplate&quot;:true,&quot;type&quot;:&quot;text&quot;}"/>
          <p:cNvSpPr txBox="1"/>
          <p:nvPr/>
        </p:nvSpPr>
        <p:spPr>
          <a:xfrm rot="0" flipH="0" flipV="0">
            <a:off x="5048250" y="1181100"/>
            <a:ext cx="7143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06B6D4"/>
                </a:solidFill>
                <a:latin typeface="Microsoft YaHei"/>
                <a:ea typeface="Microsoft YaHei"/>
              </a:rPr>
              <a:t>命中率分级</a:t>
            </a:r>
            <a:endParaRPr/>
          </a:p>
        </p:txBody>
      </p:sp>
      <p:sp>
        <p:nvSpPr>
          <p:cNvPr id="186" name="" descr="{&quot;isTemplate&quot;:true,&quot;type&quot;:&quot;text&quot;}"/>
          <p:cNvSpPr txBox="1"/>
          <p:nvPr/>
        </p:nvSpPr>
        <p:spPr>
          <a:xfrm rot="0" flipH="0" flipV="0">
            <a:off x="6124575" y="1181100"/>
            <a:ext cx="39528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94A3B8"/>
                </a:solidFill>
                <a:latin typeface="Microsoft YaHei"/>
                <a:ea typeface="Microsoft YaHei"/>
              </a:rPr>
              <a:t>合同审阅演示：</a:t>
            </a:r>
            <a:r>
              <a:rPr lang="en-US" sz="1125">
                <a:solidFill>
                  <a:srgbClr val="94A3B8"/>
                </a:solidFill>
                <a:latin typeface="Microsoft YaHei"/>
                <a:ea typeface="Microsoft YaHei"/>
              </a:rPr>
              <a:t>13 </a:t>
            </a:r>
            <a:r>
              <a:rPr lang="zh-CN" sz="1125">
                <a:solidFill>
                  <a:srgbClr val="94A3B8"/>
                </a:solidFill>
                <a:latin typeface="Microsoft YaHei"/>
                <a:ea typeface="Microsoft YaHei"/>
              </a:rPr>
              <a:t>句真实校验（模拟</a:t>
            </a:r>
            <a:r>
              <a:rPr lang="en-US" sz="1125">
                <a:solidFill>
                  <a:srgbClr val="94A3B8"/>
                </a:solidFill>
                <a:latin typeface="Microsoft YaHei"/>
                <a:ea typeface="Microsoft YaHei"/>
              </a:rPr>
              <a:t> 4B </a:t>
            </a:r>
            <a:r>
              <a:rPr lang="zh-CN" sz="1125">
                <a:solidFill>
                  <a:srgbClr val="94A3B8"/>
                </a:solidFill>
                <a:latin typeface="Microsoft YaHei"/>
                <a:ea typeface="Microsoft YaHei"/>
              </a:rPr>
              <a:t>文本</a:t>
            </a:r>
            <a:r>
              <a:rPr lang="en-US" sz="1125">
                <a:solidFill>
                  <a:srgbClr val="94A3B8"/>
                </a:solidFill>
                <a:latin typeface="Microsoft YaHei"/>
                <a:ea typeface="Microsoft YaHei"/>
              </a:rPr>
              <a:t> × </a:t>
            </a:r>
            <a:r>
              <a:rPr lang="zh-CN" sz="1125">
                <a:solidFill>
                  <a:srgbClr val="94A3B8"/>
                </a:solidFill>
                <a:latin typeface="Microsoft YaHei"/>
                <a:ea typeface="Microsoft YaHei"/>
              </a:rPr>
              <a:t>真实校验器）</a:t>
            </a:r>
            <a:endParaRPr/>
          </a:p>
        </p:txBody>
      </p:sp>
      <p:graphicFrame>
        <p:nvGraphicFramePr>
          <p:cNvPr id="187" name=""/>
          <p:cNvGraphicFramePr/>
          <p:nvPr/>
        </p:nvGraphicFramePr>
        <p:xfrm rot="0" flipH="0" flipV="0">
          <a:off x="685800" y="1562100"/>
          <a:ext cx="10820400" cy="3048000"/>
        </p:xfrm>
        <a:graphic>
          <a:graphicData uri="http://schemas.openxmlformats.org/drawingml/2006/table">
            <a:tbl>
              <a:tblGrid>
                <a:gridCol w="1391261">
                  <a:extLst>
                    <a:ext uri="{9D8B030D-6E8A-4147-A177-3AD203B41FA5}">
                      <a16:colId val="1"/>
                    </a:ext>
                  </a:extLst>
                </a:gridCol>
                <a:gridCol w="1262224">
                  <a:extLst>
                    <a:ext uri="{9D8B030D-6E8A-4147-A177-3AD203B41FA5}">
                      <a16:colId val="2"/>
                    </a:ext>
                  </a:extLst>
                </a:gridCol>
                <a:gridCol w="3925093">
                  <a:extLst>
                    <a:ext uri="{9D8B030D-6E8A-4147-A177-3AD203B41FA5}">
                      <a16:colId val="3"/>
                    </a:ext>
                  </a:extLst>
                </a:gridCol>
                <a:gridCol w="4241822">
                  <a:extLst>
                    <a:ext uri="{9D8B030D-6E8A-4147-A177-3AD203B41FA5}">
                      <a16:colId val="4"/>
                    </a:ext>
                  </a:extLst>
                </a:gridCol>
              </a:tblGrid>
              <a:tr h="676489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350" b="1">
                          <a:solidFill>
                            <a:srgbClr val="3B82F6"/>
                          </a:solidFill>
                          <a:latin typeface="Microsoft YaHei"/>
                          <a:ea typeface="Microsoft YaHei"/>
                        </a:rPr>
                        <a:t>判定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350" b="1">
                          <a:solidFill>
                            <a:srgbClr val="3B82F6"/>
                          </a:solidFill>
                          <a:latin typeface="Microsoft YaHei"/>
                          <a:ea typeface="Microsoft YaHei"/>
                        </a:rPr>
                        <a:t>命中率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350" b="1">
                          <a:solidFill>
                            <a:srgbClr val="3B82F6"/>
                          </a:solidFill>
                          <a:latin typeface="Microsoft YaHei"/>
                          <a:ea typeface="Microsoft YaHei"/>
                        </a:rPr>
                        <a:t>含义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350" b="1">
                          <a:solidFill>
                            <a:srgbClr val="3B82F6"/>
                          </a:solidFill>
                          <a:latin typeface="Microsoft YaHei"/>
                          <a:ea typeface="Microsoft YaHei"/>
                        </a:rPr>
                        <a:t>真实样例（13 句演示样本）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val="1"/>
                  </a:ext>
                </a:extLst>
              </a:tr>
              <a:tr h="790504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650" b="1">
                          <a:solidFill>
                            <a:srgbClr val="06B6D4"/>
                          </a:solidFill>
                          <a:latin typeface="Microsoft YaHei"/>
                          <a:ea typeface="Microsoft YaHei"/>
                        </a:rPr>
                        <a:t>● 已溯源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6B6D4">
                        <a:alpha val="10000"/>
                      </a:srgbClr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350" b="1">
                          <a:solidFill>
                            <a:srgbClr val="06B6D4"/>
                          </a:solidFill>
                          <a:latin typeface="Microsoft YaHei"/>
                          <a:ea typeface="Microsoft YaHei"/>
                        </a:rPr>
                        <a:t>0.50 – 1.00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6B6D4">
                        <a:alpha val="10000"/>
                      </a:srgbClr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350">
                          <a:solidFill>
                            <a:srgbClr val="F1F5F9"/>
                          </a:solidFill>
                          <a:latin typeface="Microsoft YaHei"/>
                          <a:ea typeface="Microsoft YaHei"/>
                        </a:rPr>
                        <a:t>引用踩中原文，页码可点开核验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6B6D4">
                        <a:alpha val="10000"/>
                      </a:srgbClr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350">
                          <a:solidFill>
                            <a:srgbClr val="F1F5F9"/>
                          </a:solidFill>
                          <a:latin typeface="Microsoft YaHei"/>
                          <a:ea typeface="Microsoft YaHei"/>
                        </a:rPr>
                        <a:t>「第二条约定试用期为六个月」→ 样例A p1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6B6D4">
                        <a:alpha val="10000"/>
                      </a:srgbClr>
                    </a:solidFill>
                  </a:tcPr>
                </a:tc>
                <a:extLst>
                  <a:ext uri="{0D108BD9-81ED-4DB2-BD59-A6C34878D82A}">
                    <a16:rowId val="2"/>
                  </a:ext>
                </a:extLst>
              </a:tr>
              <a:tr h="790504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650" b="1">
                          <a:solidFill>
                            <a:srgbClr val="F59E0B"/>
                          </a:solidFill>
                          <a:latin typeface="Microsoft YaHei"/>
                          <a:ea typeface="Microsoft YaHei"/>
                        </a:rPr>
                        <a:t>● 部分溯源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9E0B">
                        <a:alpha val="10000"/>
                      </a:srgbClr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350" b="1">
                          <a:solidFill>
                            <a:srgbClr val="F59E0B"/>
                          </a:solidFill>
                          <a:latin typeface="Microsoft YaHei"/>
                          <a:ea typeface="Microsoft YaHei"/>
                        </a:rPr>
                        <a:t>0.01 – 0.49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9E0B">
                        <a:alpha val="10000"/>
                      </a:srgbClr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350">
                          <a:solidFill>
                            <a:srgbClr val="F1F5F9"/>
                          </a:solidFill>
                          <a:latin typeface="Microsoft YaHei"/>
                          <a:ea typeface="Microsoft YaHei"/>
                        </a:rPr>
                        <a:t>条款综合分析，建议重点核对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9E0B">
                        <a:alpha val="10000"/>
                      </a:srgbClr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350">
                          <a:solidFill>
                            <a:srgbClr val="F1F5F9"/>
                          </a:solidFill>
                          <a:latin typeface="Microsoft YaHei"/>
                          <a:ea typeface="Microsoft YaHei"/>
                        </a:rPr>
                        <a:t>「补偿与限制期限明显不匹配」0.29–0.33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9E0B">
                        <a:alpha val="10000"/>
                      </a:srgbClr>
                    </a:solidFill>
                  </a:tcPr>
                </a:tc>
                <a:extLst>
                  <a:ext uri="{0D108BD9-81ED-4DB2-BD59-A6C34878D82A}">
                    <a16:rowId val="3"/>
                  </a:ext>
                </a:extLst>
              </a:tr>
              <a:tr h="790504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650" b="1">
                          <a:solidFill>
                            <a:srgbClr val="94A3B8"/>
                          </a:solidFill>
                          <a:latin typeface="Microsoft YaHei"/>
                          <a:ea typeface="Microsoft YaHei"/>
                        </a:rPr>
                        <a:t>● 未溯源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350" b="1">
                          <a:solidFill>
                            <a:srgbClr val="94A3B8"/>
                          </a:solidFill>
                          <a:latin typeface="Microsoft YaHei"/>
                          <a:ea typeface="Microsoft YaHei"/>
                        </a:rPr>
                        <a:t>&lt; 0.01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350">
                          <a:solidFill>
                            <a:srgbClr val="F1F5F9"/>
                          </a:solidFill>
                          <a:latin typeface="Microsoft YaHei"/>
                          <a:ea typeface="Microsoft YaHei"/>
                        </a:rPr>
                        <a:t>外部法条 / 建议，不是从你的资料里来的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350">
                          <a:solidFill>
                            <a:srgbClr val="F1F5F9"/>
                          </a:solidFill>
                          <a:latin typeface="Microsoft YaHei"/>
                          <a:ea typeface="Microsoft YaHei"/>
                        </a:rPr>
                        <a:t>《劳动合同法》第十九条 · 修改建议 0.00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val="4"/>
                  </a:ext>
                </a:extLst>
              </a:tr>
            </a:tbl>
          </a:graphicData>
        </a:graphic>
      </p:graphicFrame>
      <p:sp>
        <p:nvSpPr>
          <p:cNvPr id="188" name=""/>
          <p:cNvSpPr/>
          <p:nvPr/>
        </p:nvSpPr>
        <p:spPr>
          <a:xfrm rot="0" flipH="0" flipV="0">
            <a:off x="714375" y="5267325"/>
            <a:ext cx="8839200" cy="619125"/>
          </a:xfrm>
          <a:prstGeom prst="roundRect">
            <a:avLst>
              <a:gd name="adj" fmla="val 9231"/>
            </a:avLst>
          </a:prstGeom>
          <a:solidFill>
            <a:srgbClr val="3B82F6">
              <a:alpha val="8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189" name=""/>
          <p:cNvSpPr/>
          <p:nvPr/>
        </p:nvSpPr>
        <p:spPr>
          <a:xfrm rot="0" flipH="0" flipV="0">
            <a:off x="714375" y="5267325"/>
            <a:ext cx="8839200" cy="619125"/>
          </a:xfrm>
          <a:custGeom>
            <a:pathLst>
              <a:path w="928" h="65">
                <a:moveTo>
                  <a:pt x="6" y="0"/>
                </a:moveTo>
                <a:cubicBezTo>
                  <a:pt x="4" y="0"/>
                  <a:pt x="3" y="1"/>
                  <a:pt x="3" y="3"/>
                </a:cubicBezTo>
                <a:lnTo>
                  <a:pt x="3" y="62"/>
                </a:lnTo>
                <a:cubicBezTo>
                  <a:pt x="3" y="63"/>
                  <a:pt x="4" y="65"/>
                  <a:pt x="5" y="65"/>
                </a:cubicBezTo>
                <a:cubicBezTo>
                  <a:pt x="2" y="65"/>
                  <a:pt x="0" y="62"/>
                  <a:pt x="0" y="59"/>
                </a:cubicBezTo>
                <a:lnTo>
                  <a:pt x="0" y="6"/>
                </a:lnTo>
                <a:cubicBezTo>
                  <a:pt x="0" y="3"/>
                  <a:pt x="3" y="0"/>
                  <a:pt x="6" y="0"/>
                </a:cubicBezTo>
                <a:close/>
              </a:path>
            </a:pathLst>
          </a:custGeom>
          <a:solidFill>
            <a:srgbClr val="3B82F6"/>
          </a:solidFill>
          <a:ln/>
        </p:spPr>
        <p:txBody>
          <a:bodyPr/>
          <a:p>
            <a:pPr/>
            <a:endParaRPr/>
          </a:p>
        </p:txBody>
      </p:sp>
      <p:sp>
        <p:nvSpPr>
          <p:cNvPr id="190" name="" descr="{&quot;isTemplate&quot;:true,&quot;type&quot;:&quot;text&quot;}"/>
          <p:cNvSpPr txBox="1"/>
          <p:nvPr/>
        </p:nvSpPr>
        <p:spPr>
          <a:xfrm rot="0" flipH="0" flipV="0">
            <a:off x="885825" y="5400675"/>
            <a:ext cx="8467725" cy="3524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425" b="1">
                <a:solidFill>
                  <a:srgbClr val="3B82F6"/>
                </a:solidFill>
                <a:latin typeface="Microsoft YaHei"/>
                <a:ea typeface="Microsoft YaHei"/>
              </a:rPr>
              <a:t>口径：</a:t>
            </a:r>
            <a:r>
              <a:rPr lang="zh-CN" sz="1425">
                <a:solidFill>
                  <a:srgbClr val="F1F5F9"/>
                </a:solidFill>
                <a:latin typeface="Microsoft YaHei"/>
                <a:ea typeface="Microsoft YaHei"/>
              </a:rPr>
              <a:t>不是判断模型「对不对」，而是把每句话分类——</a:t>
            </a:r>
            <a:r>
              <a:rPr lang="en-US" sz="1425">
                <a:solidFill>
                  <a:srgbClr val="F1F5F9"/>
                </a:solidFill>
                <a:latin typeface="Microsoft YaHei"/>
                <a:ea typeface="Microsoft YaHei"/>
              </a:rPr>
              <a:t>10 </a:t>
            </a:r>
            <a:r>
              <a:rPr lang="zh-CN" sz="1425">
                <a:solidFill>
                  <a:srgbClr val="F1F5F9"/>
                </a:solidFill>
                <a:latin typeface="Microsoft YaHei"/>
                <a:ea typeface="Microsoft YaHei"/>
              </a:rPr>
              <a:t>秒知道该核查哪几句</a:t>
            </a:r>
            <a:endParaRPr/>
          </a:p>
        </p:txBody>
      </p:sp>
      <p:sp>
        <p:nvSpPr>
          <p:cNvPr id="191" name="" descr="{&quot;isTemplate&quot;:true,&quot;type&quot;:&quot;text&quot;}"/>
          <p:cNvSpPr txBox="1"/>
          <p:nvPr/>
        </p:nvSpPr>
        <p:spPr>
          <a:xfrm rot="0" flipH="0" flipV="0">
            <a:off x="9782175" y="5191125"/>
            <a:ext cx="276225" cy="600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3900" b="1">
                <a:solidFill>
                  <a:srgbClr val="06B6D4"/>
                </a:solidFill>
                <a:latin typeface="Inter"/>
                <a:ea typeface="Inter"/>
              </a:rPr>
              <a:t>5</a:t>
            </a:r>
            <a:endParaRPr/>
          </a:p>
        </p:txBody>
      </p:sp>
      <p:sp>
        <p:nvSpPr>
          <p:cNvPr id="192" name="" descr="{&quot;isTemplate&quot;:true,&quot;type&quot;:&quot;text&quot;}"/>
          <p:cNvSpPr txBox="1"/>
          <p:nvPr/>
        </p:nvSpPr>
        <p:spPr>
          <a:xfrm rot="0" flipH="0" flipV="0">
            <a:off x="9715500" y="5791200"/>
            <a:ext cx="4000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94A3B8"/>
                </a:solidFill>
                <a:latin typeface="Microsoft YaHei"/>
                <a:ea typeface="Microsoft YaHei"/>
              </a:rPr>
              <a:t>已溯源</a:t>
            </a:r>
            <a:endParaRPr/>
          </a:p>
        </p:txBody>
      </p:sp>
      <p:sp>
        <p:nvSpPr>
          <p:cNvPr id="193" name="" descr="{&quot;isTemplate&quot;:true,&quot;type&quot;:&quot;text&quot;}"/>
          <p:cNvSpPr txBox="1"/>
          <p:nvPr/>
        </p:nvSpPr>
        <p:spPr>
          <a:xfrm rot="0" flipH="0" flipV="0">
            <a:off x="10477500" y="5191125"/>
            <a:ext cx="276225" cy="600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3900" b="1">
                <a:solidFill>
                  <a:srgbClr val="F59E0B"/>
                </a:solidFill>
                <a:latin typeface="Inter"/>
                <a:ea typeface="Inter"/>
              </a:rPr>
              <a:t>3</a:t>
            </a:r>
            <a:endParaRPr/>
          </a:p>
        </p:txBody>
      </p:sp>
      <p:sp>
        <p:nvSpPr>
          <p:cNvPr id="194" name="" descr="{&quot;isTemplate&quot;:true,&quot;type&quot;:&quot;text&quot;}"/>
          <p:cNvSpPr txBox="1"/>
          <p:nvPr/>
        </p:nvSpPr>
        <p:spPr>
          <a:xfrm rot="0" flipH="0" flipV="0">
            <a:off x="10344150" y="5791200"/>
            <a:ext cx="5334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94A3B8"/>
                </a:solidFill>
                <a:latin typeface="Microsoft YaHei"/>
                <a:ea typeface="Microsoft YaHei"/>
              </a:rPr>
              <a:t>部分溯源</a:t>
            </a:r>
            <a:endParaRPr/>
          </a:p>
        </p:txBody>
      </p:sp>
      <p:sp>
        <p:nvSpPr>
          <p:cNvPr id="195" name="" descr="{&quot;isTemplate&quot;:true,&quot;type&quot;:&quot;text&quot;}"/>
          <p:cNvSpPr txBox="1"/>
          <p:nvPr/>
        </p:nvSpPr>
        <p:spPr>
          <a:xfrm rot="0" flipH="0" flipV="0">
            <a:off x="11172825" y="5191125"/>
            <a:ext cx="276225" cy="600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3900" b="1">
                <a:solidFill>
                  <a:srgbClr val="94A3B8"/>
                </a:solidFill>
                <a:latin typeface="Inter"/>
                <a:ea typeface="Inter"/>
              </a:rPr>
              <a:t>5</a:t>
            </a:r>
            <a:endParaRPr/>
          </a:p>
        </p:txBody>
      </p:sp>
      <p:sp>
        <p:nvSpPr>
          <p:cNvPr id="196" name="" descr="{&quot;isTemplate&quot;:true,&quot;type&quot;:&quot;text&quot;}"/>
          <p:cNvSpPr txBox="1"/>
          <p:nvPr/>
        </p:nvSpPr>
        <p:spPr>
          <a:xfrm rot="0" flipH="0" flipV="0">
            <a:off x="11106150" y="5791200"/>
            <a:ext cx="4000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94A3B8"/>
                </a:solidFill>
                <a:latin typeface="Microsoft YaHei"/>
                <a:ea typeface="Microsoft YaHei"/>
              </a:rPr>
              <a:t>未溯源</a:t>
            </a:r>
            <a:endParaRPr/>
          </a:p>
        </p:txBody>
      </p:sp>
      <p:sp>
        <p:nvSpPr>
          <p:cNvPr id="197" name="" descr="{&quot;isTemplate&quot;:true,&quot;type&quot;:&quot;text&quot;}"/>
          <p:cNvSpPr txBox="1"/>
          <p:nvPr/>
        </p:nvSpPr>
        <p:spPr>
          <a:xfrm rot="0" flipH="0" flipV="0">
            <a:off x="685800" y="6457950"/>
            <a:ext cx="17716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94A3B8"/>
                </a:solidFill>
                <a:latin typeface="Microsoft YaHei"/>
                <a:ea typeface="Microsoft YaHei"/>
              </a:rPr>
              <a:t>卷宗</a:t>
            </a:r>
            <a:r>
              <a:rPr lang="en-US" sz="1050">
                <a:solidFill>
                  <a:srgbClr val="94A3B8"/>
                </a:solidFill>
                <a:latin typeface="Microsoft YaHei"/>
                <a:ea typeface="Microsoft YaHei"/>
              </a:rPr>
              <a:t> · Spark-X2.5 </a:t>
            </a:r>
            <a:r>
              <a:rPr lang="zh-CN" sz="1050">
                <a:solidFill>
                  <a:srgbClr val="94A3B8"/>
                </a:solidFill>
                <a:latin typeface="Microsoft YaHei"/>
                <a:ea typeface="Microsoft YaHei"/>
              </a:rPr>
              <a:t>端侧挑战赛</a:t>
            </a:r>
            <a:endParaRPr/>
          </a:p>
        </p:txBody>
      </p:sp>
      <p:sp>
        <p:nvSpPr>
          <p:cNvPr id="198" name="" descr="{&quot;isTemplate&quot;:true,&quot;type&quot;:&quot;text&quot;}"/>
          <p:cNvSpPr txBox="1"/>
          <p:nvPr/>
        </p:nvSpPr>
        <p:spPr>
          <a:xfrm rot="0" flipH="0" flipV="0">
            <a:off x="11049000" y="645795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94A3B8"/>
                </a:solidFill>
                <a:latin typeface="Microsoft YaHei"/>
                <a:ea typeface="Microsoft YaHei"/>
              </a:rPr>
              <a:t>06 / 12</a:t>
            </a:r>
            <a:endParaRPr/>
          </a:p>
        </p:txBody>
      </p:sp>
    </p:spTree>
  </p:cSld>
</p:sld>
</file>

<file path=ppt/slides/slide7.xml><?xml version="1.0" encoding="utf-8"?>
<p:sld xmlns:p="http://schemas.openxmlformats.org/presentationml/2006/main" xmlns:r="http://schemas.openxmlformats.org/officeDocument/2006/relationships" xmlns:a="http://schemas.openxmlformats.org/drawingml/2006/main" xmlns:a16="http://schemas.microsoft.com/office/drawing/2014/main" xmlns:mc="http://schemas.openxmlformats.org/markup-compatibility/2006" mc:Ignorable="a16">
  <p:cSld>
    <p:spTree>
      <p:nvGrpSpPr>
        <p:cNvPr id="19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p>
            <a:pPr/>
            <a:endParaRPr/>
          </a:p>
        </p:txBody>
      </p:sp>
      <p:sp>
        <p:nvSpPr>
          <p:cNvPr id="201" name="" descr="{&quot;isTemplate&quot;:true,&quot;type&quot;:&quot;text&quot;}"/>
          <p:cNvSpPr txBox="1"/>
          <p:nvPr/>
        </p:nvSpPr>
        <p:spPr>
          <a:xfrm rot="0" flipH="0" flipV="0">
            <a:off x="685800" y="381000"/>
            <a:ext cx="291465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F1F5F9"/>
                </a:solidFill>
                <a:latin typeface="Microsoft YaHei"/>
                <a:ea typeface="Microsoft YaHei"/>
              </a:rPr>
              <a:t>端侧实测：跑得动吗</a:t>
            </a:r>
            <a:endParaRPr/>
          </a:p>
        </p:txBody>
      </p:sp>
      <p:sp>
        <p:nvSpPr>
          <p:cNvPr id="202" name="" descr="{&quot;isTemplate&quot;:true,&quot;type&quot;:&quot;text&quot;}"/>
          <p:cNvSpPr txBox="1"/>
          <p:nvPr/>
        </p:nvSpPr>
        <p:spPr>
          <a:xfrm rot="0" flipH="0" flipV="0">
            <a:off x="10439400" y="495300"/>
            <a:ext cx="10668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spc="225">
                <a:solidFill>
                  <a:srgbClr val="94A3B8"/>
                </a:solidFill>
                <a:latin typeface="Microsoft YaHei"/>
                <a:ea typeface="Microsoft YaHei"/>
              </a:rPr>
              <a:t>05 · </a:t>
            </a:r>
            <a:r>
              <a:rPr lang="zh-CN" sz="1050" spc="225">
                <a:solidFill>
                  <a:srgbClr val="94A3B8"/>
                </a:solidFill>
                <a:latin typeface="Microsoft YaHei"/>
                <a:ea typeface="Microsoft YaHei"/>
              </a:rPr>
              <a:t>端侧实测</a:t>
            </a:r>
            <a:endParaRPr/>
          </a:p>
        </p:txBody>
      </p:sp>
      <p:sp>
        <p:nvSpPr>
          <p:cNvPr id="203" name="" descr="{&quot;isTemplate&quot;:true,&quot;type&quot;:&quot;text&quot;}"/>
          <p:cNvSpPr txBox="1"/>
          <p:nvPr/>
        </p:nvSpPr>
        <p:spPr>
          <a:xfrm rot="0" flipH="0" flipV="0">
            <a:off x="685800" y="1952625"/>
            <a:ext cx="4000500" cy="8286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5400" b="1">
                <a:solidFill>
                  <a:srgbClr val="3B82F6"/>
                </a:solidFill>
                <a:latin typeface="Inter"/>
                <a:ea typeface="Inter"/>
              </a:rPr>
              <a:t>35–60×</a:t>
            </a:r>
            <a:endParaRPr/>
          </a:p>
        </p:txBody>
      </p:sp>
      <p:sp>
        <p:nvSpPr>
          <p:cNvPr id="204" name="" descr="{&quot;isTemplate&quot;:true,&quot;type&quot;:&quot;text&quot;}"/>
          <p:cNvSpPr txBox="1"/>
          <p:nvPr/>
        </p:nvSpPr>
        <p:spPr>
          <a:xfrm rot="0" flipH="0" flipV="0">
            <a:off x="685800" y="2838450"/>
            <a:ext cx="40005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>
                <a:solidFill>
                  <a:srgbClr val="94A3B8"/>
                </a:solidFill>
                <a:latin typeface="Microsoft YaHei"/>
                <a:ea typeface="Microsoft YaHei"/>
              </a:rPr>
              <a:t>GGUF </a:t>
            </a:r>
            <a:r>
              <a:rPr lang="zh-CN" sz="1350">
                <a:solidFill>
                  <a:srgbClr val="94A3B8"/>
                </a:solidFill>
                <a:latin typeface="Microsoft YaHei"/>
                <a:ea typeface="Microsoft YaHei"/>
              </a:rPr>
              <a:t>量化</a:t>
            </a:r>
            <a:r>
              <a:rPr lang="en-US" sz="1350">
                <a:solidFill>
                  <a:srgbClr val="94A3B8"/>
                </a:solidFill>
                <a:latin typeface="Microsoft YaHei"/>
                <a:ea typeface="Microsoft YaHei"/>
              </a:rPr>
              <a:t> + GPU </a:t>
            </a:r>
            <a:r>
              <a:rPr lang="zh-CN" sz="1350">
                <a:solidFill>
                  <a:srgbClr val="94A3B8"/>
                </a:solidFill>
                <a:latin typeface="Microsoft YaHei"/>
                <a:ea typeface="Microsoft YaHei"/>
              </a:rPr>
              <a:t>全层卸载的路线提速</a:t>
            </a:r>
            <a:endParaRPr/>
          </a:p>
        </p:txBody>
      </p:sp>
      <p:graphicFrame>
        <p:nvGraphicFramePr>
          <p:cNvPr id="205" name=""/>
          <p:cNvGraphicFramePr/>
          <p:nvPr/>
        </p:nvGraphicFramePr>
        <p:xfrm rot="0" flipH="0" flipV="0">
          <a:off x="685800" y="3181350"/>
          <a:ext cx="4000500" cy="1981200"/>
        </p:xfrm>
        <a:graphic>
          <a:graphicData uri="http://schemas.openxmlformats.org/drawingml/2006/table">
            <a:tbl>
              <a:tblGrid>
                <a:gridCol w="815636">
                  <a:extLst>
                    <a:ext uri="{9D8B030D-6E8A-4147-A177-3AD203B41FA5}">
                      <a16:colId val="1"/>
                    </a:ext>
                  </a:extLst>
                </a:gridCol>
                <a:gridCol w="1581643">
                  <a:extLst>
                    <a:ext uri="{9D8B030D-6E8A-4147-A177-3AD203B41FA5}">
                      <a16:colId val="2"/>
                    </a:ext>
                  </a:extLst>
                </a:gridCol>
                <a:gridCol w="1603221">
                  <a:extLst>
                    <a:ext uri="{9D8B030D-6E8A-4147-A177-3AD203B41FA5}">
                      <a16:colId val="3"/>
                    </a:ext>
                  </a:extLst>
                </a:gridCol>
              </a:tblGrid>
              <a:tr h="495300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 b="1">
                          <a:solidFill>
                            <a:srgbClr val="3B82F6"/>
                          </a:solidFill>
                          <a:latin typeface="Microsoft YaHei"/>
                          <a:ea typeface="Microsoft YaHei"/>
                        </a:rPr>
                        <a:t>指标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 b="1">
                          <a:solidFill>
                            <a:srgbClr val="94A3B8"/>
                          </a:solidFill>
                          <a:latin typeface="Microsoft YaHei"/>
                          <a:ea typeface="Microsoft YaHei"/>
                        </a:rPr>
                        <a:t>transformers bf16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 b="1">
                          <a:solidFill>
                            <a:srgbClr val="06B6D4"/>
                          </a:solidFill>
                          <a:latin typeface="Microsoft YaHei"/>
                          <a:ea typeface="Microsoft YaHei"/>
                        </a:rPr>
                        <a:t>llama.cpp Q4_K_M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val="1"/>
                  </a:ext>
                </a:extLst>
              </a:tr>
              <a:tr h="495300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>
                          <a:solidFill>
                            <a:srgbClr val="F1F5F9"/>
                          </a:solidFill>
                          <a:latin typeface="Microsoft YaHei"/>
                          <a:ea typeface="Microsoft YaHei"/>
                        </a:rPr>
                        <a:t>1.7B 速度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>
                          <a:solidFill>
                            <a:srgbClr val="F1F5F9"/>
                          </a:solidFill>
                          <a:latin typeface="Microsoft YaHei"/>
                          <a:ea typeface="Microsoft YaHei"/>
                        </a:rPr>
                        <a:t>3.5 tok/s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 b="1">
                          <a:solidFill>
                            <a:srgbClr val="06B6D4"/>
                          </a:solidFill>
                          <a:latin typeface="Microsoft YaHei"/>
                          <a:ea typeface="Microsoft YaHei"/>
                        </a:rPr>
                        <a:t>134 tok/s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val="2"/>
                  </a:ext>
                </a:extLst>
              </a:tr>
              <a:tr h="495300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>
                          <a:solidFill>
                            <a:srgbClr val="F1F5F9"/>
                          </a:solidFill>
                          <a:latin typeface="Microsoft YaHei"/>
                          <a:ea typeface="Microsoft YaHei"/>
                        </a:rPr>
                        <a:t>4B 速度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>
                          <a:solidFill>
                            <a:srgbClr val="F1F5F9"/>
                          </a:solidFill>
                          <a:latin typeface="Microsoft YaHei"/>
                          <a:ea typeface="Microsoft YaHei"/>
                        </a:rPr>
                        <a:t>~1 tok/s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 b="1">
                          <a:solidFill>
                            <a:srgbClr val="06B6D4"/>
                          </a:solidFill>
                          <a:latin typeface="Microsoft YaHei"/>
                          <a:ea typeface="Microsoft YaHei"/>
                        </a:rPr>
                        <a:t>63 tok/s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val="3"/>
                  </a:ext>
                </a:extLst>
              </a:tr>
              <a:tr h="495300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>
                          <a:solidFill>
                            <a:srgbClr val="F1F5F9"/>
                          </a:solidFill>
                          <a:latin typeface="Microsoft YaHei"/>
                          <a:ea typeface="Microsoft YaHei"/>
                        </a:rPr>
                        <a:t>显存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>
                          <a:solidFill>
                            <a:srgbClr val="F1F5F9"/>
                          </a:solidFill>
                          <a:latin typeface="Microsoft YaHei"/>
                          <a:ea typeface="Microsoft YaHei"/>
                        </a:rPr>
                        <a:t>3.7GB 单模型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 b="1">
                          <a:solidFill>
                            <a:srgbClr val="06B6D4"/>
                          </a:solidFill>
                          <a:latin typeface="Microsoft YaHei"/>
                          <a:ea typeface="Microsoft YaHei"/>
                        </a:rPr>
                        <a:t>5.5GB 双模型同驻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val="4"/>
                  </a:ext>
                </a:extLst>
              </a:tr>
            </a:tbl>
          </a:graphicData>
        </a:graphic>
      </p:graphicFrame>
      <p:sp>
        <p:nvSpPr>
          <p:cNvPr id="206" name="" descr="{&quot;isTemplate&quot;:true,&quot;type&quot;:&quot;text&quot;}"/>
          <p:cNvSpPr txBox="1"/>
          <p:nvPr/>
        </p:nvSpPr>
        <p:spPr>
          <a:xfrm rot="0" flipH="0" flipV="0">
            <a:off x="685800" y="5295900"/>
            <a:ext cx="4000500" cy="2571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en-US" sz="1050">
                <a:solidFill>
                  <a:srgbClr val="94A3B8"/>
                </a:solidFill>
                <a:latin typeface="Microsoft YaHei"/>
                <a:ea typeface="Microsoft YaHei"/>
              </a:rPr>
              <a:t>RTX 5060 Laptop 8GB · </a:t>
            </a:r>
            <a:r>
              <a:rPr lang="zh-CN" sz="1050">
                <a:solidFill>
                  <a:srgbClr val="94A3B8"/>
                </a:solidFill>
                <a:latin typeface="Microsoft YaHei"/>
                <a:ea typeface="Microsoft YaHei"/>
              </a:rPr>
              <a:t>驱动</a:t>
            </a:r>
            <a:r>
              <a:rPr lang="en-US" sz="1050">
                <a:solidFill>
                  <a:srgbClr val="94A3B8"/>
                </a:solidFill>
                <a:latin typeface="Microsoft YaHei"/>
                <a:ea typeface="Microsoft YaHei"/>
              </a:rPr>
              <a:t> 592.27 · 2026-09-18 </a:t>
            </a:r>
            <a:r>
              <a:rPr lang="zh-CN" sz="1050">
                <a:solidFill>
                  <a:srgbClr val="94A3B8"/>
                </a:solidFill>
                <a:latin typeface="Microsoft YaHei"/>
                <a:ea typeface="Microsoft YaHei"/>
              </a:rPr>
              <a:t>真机实测</a:t>
            </a:r>
            <a:endParaRPr/>
          </a:p>
        </p:txBody>
      </p:sp>
      <p:sp>
        <p:nvSpPr>
          <p:cNvPr id="207" name=""/>
          <p:cNvSpPr/>
          <p:nvPr/>
        </p:nvSpPr>
        <p:spPr>
          <a:xfrm rot="0" flipH="0" flipV="0">
            <a:off x="4953000" y="1285875"/>
            <a:ext cx="6553200" cy="4933950"/>
          </a:xfrm>
          <a:prstGeom prst="roundRect">
            <a:avLst>
              <a:gd name="adj" fmla="val 2317"/>
            </a:avLst>
          </a:prstGeom>
          <a:solidFill>
            <a:srgbClr val="FFFFFF"/>
          </a:solidFill>
          <a:ln/>
        </p:spPr>
        <p:txBody>
          <a:bodyPr/>
          <a:p>
            <a:pPr/>
            <a:endParaRPr/>
          </a:p>
        </p:txBody>
      </p:sp>
      <p:pic>
        <p:nvPicPr>
          <p:cNvPr id="208" name=""/>
          <p:cNvPicPr>
            <a:picLocks noChangeAspect="1"/>
          </p:cNvPicPr>
          <p:nvPr/>
        </p:nvPicPr>
        <p:blipFill>
          <a:blip r:embed="rId1"/>
          <a:srcRect l="0" t="323" r="0" b="323"/>
          <a:stretch>
            <a:fillRect/>
          </a:stretch>
        </p:blipFill>
        <p:spPr>
          <a:xfrm rot="0" flipH="0" flipV="0">
            <a:off x="5086350" y="1400175"/>
            <a:ext cx="6248400" cy="4514850"/>
          </a:xfrm>
          <a:prstGeom prst="rect">
            <a:avLst/>
          </a:prstGeom>
          <a:ln/>
        </p:spPr>
      </p:pic>
      <p:sp>
        <p:nvSpPr>
          <p:cNvPr id="209" name="" descr="{&quot;isTemplate&quot;:true,&quot;type&quot;:&quot;text&quot;}"/>
          <p:cNvSpPr txBox="1"/>
          <p:nvPr/>
        </p:nvSpPr>
        <p:spPr>
          <a:xfrm rot="0" flipH="0" flipV="0">
            <a:off x="5086350" y="5972175"/>
            <a:ext cx="6286500" cy="152400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en-US" sz="975">
                <a:solidFill>
                  <a:srgbClr val="334155"/>
                </a:solidFill>
                <a:latin typeface="Microsoft YaHei"/>
                <a:ea typeface="Microsoft YaHei"/>
              </a:rPr>
              <a:t>scripts/plot_bench.py </a:t>
            </a:r>
            <a:r>
              <a:rPr lang="zh-CN" sz="975">
                <a:solidFill>
                  <a:srgbClr val="334155"/>
                </a:solidFill>
                <a:latin typeface="Microsoft YaHei"/>
                <a:ea typeface="Microsoft YaHei"/>
              </a:rPr>
              <a:t>自动出图</a:t>
            </a:r>
            <a:r>
              <a:rPr lang="en-US" sz="975">
                <a:solidFill>
                  <a:srgbClr val="334155"/>
                </a:solidFill>
                <a:latin typeface="Microsoft YaHei"/>
                <a:ea typeface="Microsoft YaHei"/>
              </a:rPr>
              <a:t> · </a:t>
            </a:r>
            <a:r>
              <a:rPr lang="zh-CN" sz="975">
                <a:solidFill>
                  <a:srgbClr val="334155"/>
                </a:solidFill>
                <a:latin typeface="Microsoft YaHei"/>
                <a:ea typeface="Microsoft YaHei"/>
              </a:rPr>
              <a:t>数据口径见</a:t>
            </a:r>
            <a:r>
              <a:rPr lang="en-US" sz="975">
                <a:solidFill>
                  <a:srgbClr val="334155"/>
                </a:solidFill>
                <a:latin typeface="Microsoft YaHei"/>
                <a:ea typeface="Microsoft YaHei"/>
              </a:rPr>
              <a:t> docs/speed-benchmark.md</a:t>
            </a:r>
            <a:endParaRPr/>
          </a:p>
        </p:txBody>
      </p:sp>
      <p:sp>
        <p:nvSpPr>
          <p:cNvPr id="210" name="" descr="{&quot;isTemplate&quot;:true,&quot;type&quot;:&quot;text&quot;}"/>
          <p:cNvSpPr txBox="1"/>
          <p:nvPr/>
        </p:nvSpPr>
        <p:spPr>
          <a:xfrm rot="0" flipH="0" flipV="0">
            <a:off x="685800" y="6457950"/>
            <a:ext cx="17716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94A3B8"/>
                </a:solidFill>
                <a:latin typeface="Microsoft YaHei"/>
                <a:ea typeface="Microsoft YaHei"/>
              </a:rPr>
              <a:t>卷宗</a:t>
            </a:r>
            <a:r>
              <a:rPr lang="en-US" sz="1050">
                <a:solidFill>
                  <a:srgbClr val="94A3B8"/>
                </a:solidFill>
                <a:latin typeface="Microsoft YaHei"/>
                <a:ea typeface="Microsoft YaHei"/>
              </a:rPr>
              <a:t> · Spark-X2.5 </a:t>
            </a:r>
            <a:r>
              <a:rPr lang="zh-CN" sz="1050">
                <a:solidFill>
                  <a:srgbClr val="94A3B8"/>
                </a:solidFill>
                <a:latin typeface="Microsoft YaHei"/>
                <a:ea typeface="Microsoft YaHei"/>
              </a:rPr>
              <a:t>端侧挑战赛</a:t>
            </a:r>
            <a:endParaRPr/>
          </a:p>
        </p:txBody>
      </p:sp>
      <p:sp>
        <p:nvSpPr>
          <p:cNvPr id="211" name="" descr="{&quot;isTemplate&quot;:true,&quot;type&quot;:&quot;text&quot;}"/>
          <p:cNvSpPr txBox="1"/>
          <p:nvPr/>
        </p:nvSpPr>
        <p:spPr>
          <a:xfrm rot="0" flipH="0" flipV="0">
            <a:off x="11049000" y="645795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94A3B8"/>
                </a:solidFill>
                <a:latin typeface="Microsoft YaHei"/>
                <a:ea typeface="Microsoft YaHei"/>
              </a:rPr>
              <a:t>07 / 12</a:t>
            </a:r>
            <a:endParaRPr/>
          </a:p>
        </p:txBody>
      </p:sp>
    </p:spTree>
  </p:cSld>
</p:sld>
</file>

<file path=ppt/slides/slide8.xml><?xml version="1.0" encoding="utf-8"?>
<p:sld xmlns:p="http://schemas.openxmlformats.org/presentationml/2006/main" xmlns:r="http://schemas.openxmlformats.org/officeDocument/2006/relationships" xmlns:a="http://schemas.openxmlformats.org/drawingml/2006/main" xmlns:a16="http://schemas.microsoft.com/office/drawing/2014/main" xmlns:mc="http://schemas.openxmlformats.org/markup-compatibility/2006" mc:Ignorable="a16">
  <p:cSld>
    <p:spTree>
      <p:nvGrpSpPr>
        <p:cNvPr id="21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p>
            <a:pPr/>
            <a:endParaRPr/>
          </a:p>
        </p:txBody>
      </p:sp>
      <p:sp>
        <p:nvSpPr>
          <p:cNvPr id="214" name="" descr="{&quot;isTemplate&quot;:true,&quot;type&quot;:&quot;text&quot;}"/>
          <p:cNvSpPr txBox="1"/>
          <p:nvPr/>
        </p:nvSpPr>
        <p:spPr>
          <a:xfrm rot="0" flipH="0" flipV="0">
            <a:off x="685800" y="381000"/>
            <a:ext cx="356235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F1F5F9"/>
                </a:solidFill>
                <a:latin typeface="Microsoft YaHei"/>
                <a:ea typeface="Microsoft YaHei"/>
              </a:rPr>
              <a:t>三档时延与端侧工程细节</a:t>
            </a:r>
            <a:endParaRPr/>
          </a:p>
        </p:txBody>
      </p:sp>
      <p:sp>
        <p:nvSpPr>
          <p:cNvPr id="215" name="" descr="{&quot;isTemplate&quot;:true,&quot;type&quot;:&quot;text&quot;}"/>
          <p:cNvSpPr txBox="1"/>
          <p:nvPr/>
        </p:nvSpPr>
        <p:spPr>
          <a:xfrm rot="0" flipH="0" flipV="0">
            <a:off x="10439400" y="495300"/>
            <a:ext cx="10668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spc="225">
                <a:solidFill>
                  <a:srgbClr val="94A3B8"/>
                </a:solidFill>
                <a:latin typeface="Microsoft YaHei"/>
                <a:ea typeface="Microsoft YaHei"/>
              </a:rPr>
              <a:t>05 · </a:t>
            </a:r>
            <a:r>
              <a:rPr lang="zh-CN" sz="1050" spc="225">
                <a:solidFill>
                  <a:srgbClr val="94A3B8"/>
                </a:solidFill>
                <a:latin typeface="Microsoft YaHei"/>
                <a:ea typeface="Microsoft YaHei"/>
              </a:rPr>
              <a:t>端侧实测</a:t>
            </a:r>
            <a:endParaRPr/>
          </a:p>
        </p:txBody>
      </p:sp>
      <p:graphicFrame>
        <p:nvGraphicFramePr>
          <p:cNvPr id="216" name=""/>
          <p:cNvGraphicFramePr/>
          <p:nvPr/>
        </p:nvGraphicFramePr>
        <p:xfrm rot="0" flipH="0" flipV="0">
          <a:off x="685800" y="1104900"/>
          <a:ext cx="10820400" cy="1771650"/>
        </p:xfrm>
        <a:graphic>
          <a:graphicData uri="http://schemas.openxmlformats.org/drawingml/2006/table">
            <a:tbl>
              <a:tblGrid>
                <a:gridCol w="1103812">
                  <a:extLst>
                    <a:ext uri="{9D8B030D-6E8A-4147-A177-3AD203B41FA5}">
                      <a16:colId val="1"/>
                    </a:ext>
                  </a:extLst>
                </a:gridCol>
                <a:gridCol w="1964584">
                  <a:extLst>
                    <a:ext uri="{9D8B030D-6E8A-4147-A177-3AD203B41FA5}">
                      <a16:colId val="2"/>
                    </a:ext>
                  </a:extLst>
                </a:gridCol>
                <a:gridCol w="1913950">
                  <a:extLst>
                    <a:ext uri="{9D8B030D-6E8A-4147-A177-3AD203B41FA5}">
                      <a16:colId val="3"/>
                    </a:ext>
                  </a:extLst>
                </a:gridCol>
                <a:gridCol w="5838054">
                  <a:extLst>
                    <a:ext uri="{9D8B030D-6E8A-4147-A177-3AD203B41FA5}">
                      <a16:colId val="4"/>
                    </a:ext>
                  </a:extLst>
                </a:gridCol>
              </a:tblGrid>
              <a:tr h="442913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75" b="1">
                          <a:solidFill>
                            <a:srgbClr val="3B82F6"/>
                          </a:solidFill>
                          <a:latin typeface="Microsoft YaHei"/>
                          <a:ea typeface="Microsoft YaHei"/>
                        </a:rPr>
                        <a:t>档位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75" b="1">
                          <a:solidFill>
                            <a:srgbClr val="3B82F6"/>
                          </a:solidFill>
                          <a:latin typeface="Microsoft YaHei"/>
                          <a:ea typeface="Microsoft YaHei"/>
                        </a:rPr>
                        <a:t>首字时延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75" b="1">
                          <a:solidFill>
                            <a:srgbClr val="3B82F6"/>
                          </a:solidFill>
                          <a:latin typeface="Microsoft YaHei"/>
                          <a:ea typeface="Microsoft YaHei"/>
                        </a:rPr>
                        <a:t>总时延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75" b="1">
                          <a:solidFill>
                            <a:srgbClr val="3B82F6"/>
                          </a:solidFill>
                          <a:latin typeface="Microsoft YaHei"/>
                          <a:ea typeface="Microsoft YaHei"/>
                        </a:rPr>
                        <a:t>体感保障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val="1"/>
                  </a:ext>
                </a:extLst>
              </a:tr>
              <a:tr h="442913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75">
                          <a:solidFill>
                            <a:srgbClr val="F1F5F9"/>
                          </a:solidFill>
                          <a:latin typeface="Microsoft YaHei"/>
                          <a:ea typeface="Microsoft YaHei"/>
                        </a:rPr>
                        <a:t>轻档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75" b="1">
                          <a:solidFill>
                            <a:srgbClr val="06B6D4"/>
                          </a:solidFill>
                          <a:latin typeface="Microsoft YaHei"/>
                          <a:ea typeface="Microsoft YaHei"/>
                        </a:rPr>
                        <a:t>0.4s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75">
                          <a:solidFill>
                            <a:srgbClr val="F1F5F9"/>
                          </a:solidFill>
                          <a:latin typeface="Microsoft YaHei"/>
                          <a:ea typeface="Microsoft YaHei"/>
                        </a:rPr>
                        <a:t>0.4–0.9s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75">
                          <a:solidFill>
                            <a:srgbClr val="F1F5F9"/>
                          </a:solidFill>
                          <a:latin typeface="Microsoft YaHei"/>
                          <a:ea typeface="Microsoft YaHei"/>
                        </a:rPr>
                        <a:t>即问即答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val="2"/>
                  </a:ext>
                </a:extLst>
              </a:tr>
              <a:tr h="442913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75">
                          <a:solidFill>
                            <a:srgbClr val="F1F5F9"/>
                          </a:solidFill>
                          <a:latin typeface="Microsoft YaHei"/>
                          <a:ea typeface="Microsoft YaHei"/>
                        </a:rPr>
                        <a:t>中档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B82F6">
                        <a:alpha val="8000"/>
                      </a:srgbClr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75">
                          <a:solidFill>
                            <a:srgbClr val="F1F5F9"/>
                          </a:solidFill>
                          <a:latin typeface="Microsoft YaHei"/>
                          <a:ea typeface="Microsoft YaHei"/>
                        </a:rPr>
                        <a:t>约 0.5s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B82F6">
                        <a:alpha val="8000"/>
                      </a:srgbClr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75">
                          <a:solidFill>
                            <a:srgbClr val="F1F5F9"/>
                          </a:solidFill>
                          <a:latin typeface="Microsoft YaHei"/>
                          <a:ea typeface="Microsoft YaHei"/>
                        </a:rPr>
                        <a:t>约 2.0s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B82F6">
                        <a:alpha val="8000"/>
                      </a:srgbClr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75">
                          <a:solidFill>
                            <a:srgbClr val="F1F5F9"/>
                          </a:solidFill>
                          <a:latin typeface="Microsoft YaHei"/>
                          <a:ea typeface="Microsoft YaHei"/>
                        </a:rPr>
                        <a:t>含降级兜底，无感等待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B82F6">
                        <a:alpha val="8000"/>
                      </a:srgbClr>
                    </a:solidFill>
                  </a:tcPr>
                </a:tc>
                <a:extLst>
                  <a:ext uri="{0D108BD9-81ED-4DB2-BD59-A6C34878D82A}">
                    <a16:rowId val="3"/>
                  </a:ext>
                </a:extLst>
              </a:tr>
              <a:tr h="442913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75">
                          <a:solidFill>
                            <a:srgbClr val="F1F5F9"/>
                          </a:solidFill>
                          <a:latin typeface="Microsoft YaHei"/>
                          <a:ea typeface="Microsoft YaHei"/>
                        </a:rPr>
                        <a:t>深档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75" b="1">
                          <a:solidFill>
                            <a:srgbClr val="06B6D4"/>
                          </a:solidFill>
                          <a:latin typeface="Microsoft YaHei"/>
                          <a:ea typeface="Microsoft YaHei"/>
                        </a:rPr>
                        <a:t>&lt; 1s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75" b="1">
                          <a:solidFill>
                            <a:srgbClr val="F59E0B"/>
                          </a:solidFill>
                          <a:latin typeface="Microsoft YaHei"/>
                          <a:ea typeface="Microsoft YaHei"/>
                        </a:rPr>
                        <a:t>39–48s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75">
                          <a:solidFill>
                            <a:srgbClr val="F1F5F9"/>
                          </a:solidFill>
                          <a:latin typeface="Microsoft YaHei"/>
                          <a:ea typeface="Microsoft YaHei"/>
                        </a:rPr>
                        <a:t>思考与正文流式上屏，不黑屏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val="4"/>
                  </a:ext>
                </a:extLst>
              </a:tr>
            </a:tbl>
          </a:graphicData>
        </a:graphic>
      </p:graphicFrame>
      <p:pic>
        <p:nvPicPr>
          <p:cNvPr id="217" name=""/>
          <p:cNvPicPr>
            <a:picLocks noChangeAspect="1"/>
          </p:cNvPicPr>
          <p:nvPr/>
        </p:nvPicPr>
        <p:blipFill>
          <a:blip r:embed="rId1"/>
          <a:srcRect l="53" t="0" r="53" b="0"/>
          <a:stretch>
            <a:fillRect/>
          </a:stretch>
        </p:blipFill>
        <p:spPr>
          <a:xfrm rot="0" flipH="0" flipV="0">
            <a:off x="685800" y="3305175"/>
            <a:ext cx="4476750" cy="2819400"/>
          </a:xfrm>
          <a:prstGeom prst="roundRect">
            <a:avLst>
              <a:gd name="adj" fmla="val 4054"/>
            </a:avLst>
          </a:prstGeom>
          <a:ln/>
        </p:spPr>
      </p:pic>
      <p:sp>
        <p:nvSpPr>
          <p:cNvPr id="218" name=""/>
          <p:cNvSpPr/>
          <p:nvPr/>
        </p:nvSpPr>
        <p:spPr>
          <a:xfrm rot="0" flipH="0" flipV="0">
            <a:off x="5429250" y="4162425"/>
            <a:ext cx="95250" cy="95250"/>
          </a:xfrm>
          <a:prstGeom prst="roundRect">
            <a:avLst>
              <a:gd name="adj" fmla="val 50000"/>
            </a:avLst>
          </a:prstGeom>
          <a:solidFill>
            <a:srgbClr val="3B82F6"/>
          </a:solidFill>
          <a:ln/>
        </p:spPr>
        <p:txBody>
          <a:bodyPr/>
          <a:p>
            <a:pPr/>
            <a:endParaRPr/>
          </a:p>
        </p:txBody>
      </p:sp>
      <p:sp>
        <p:nvSpPr>
          <p:cNvPr id="219" name="" descr="{&quot;isTemplate&quot;:true,&quot;type&quot;:&quot;text&quot;}"/>
          <p:cNvSpPr txBox="1"/>
          <p:nvPr/>
        </p:nvSpPr>
        <p:spPr>
          <a:xfrm rot="0" flipH="0" flipV="0">
            <a:off x="5638800" y="4124325"/>
            <a:ext cx="28860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06B6D4"/>
                </a:solidFill>
                <a:latin typeface="Microsoft YaHei"/>
                <a:ea typeface="Microsoft YaHei"/>
              </a:rPr>
              <a:t>-ngl 99</a:t>
            </a:r>
            <a:r>
              <a:rPr lang="zh-CN" sz="1125">
                <a:solidFill>
                  <a:srgbClr val="F1F5F9"/>
                </a:solidFill>
                <a:latin typeface="Microsoft YaHei"/>
                <a:ea typeface="Microsoft YaHei"/>
              </a:rPr>
              <a:t>　全部层卸载到</a:t>
            </a:r>
            <a:r>
              <a:rPr lang="en-US" sz="1125">
                <a:solidFill>
                  <a:srgbClr val="F1F5F9"/>
                </a:solidFill>
                <a:latin typeface="Microsoft YaHei"/>
                <a:ea typeface="Microsoft YaHei"/>
              </a:rPr>
              <a:t> GPU</a:t>
            </a:r>
            <a:r>
              <a:rPr lang="zh-CN" sz="1125">
                <a:solidFill>
                  <a:srgbClr val="F1F5F9"/>
                </a:solidFill>
                <a:latin typeface="Microsoft YaHei"/>
                <a:ea typeface="Microsoft YaHei"/>
              </a:rPr>
              <a:t>，</a:t>
            </a:r>
            <a:r>
              <a:rPr lang="en-US" sz="1125">
                <a:solidFill>
                  <a:srgbClr val="F1F5F9"/>
                </a:solidFill>
                <a:latin typeface="Microsoft YaHei"/>
                <a:ea typeface="Microsoft YaHei"/>
              </a:rPr>
              <a:t>CPU </a:t>
            </a:r>
            <a:r>
              <a:rPr lang="zh-CN" sz="1125">
                <a:solidFill>
                  <a:srgbClr val="F1F5F9"/>
                </a:solidFill>
                <a:latin typeface="Microsoft YaHei"/>
                <a:ea typeface="Microsoft YaHei"/>
              </a:rPr>
              <a:t>只做调度</a:t>
            </a:r>
            <a:endParaRPr/>
          </a:p>
        </p:txBody>
      </p:sp>
      <p:sp>
        <p:nvSpPr>
          <p:cNvPr id="220" name=""/>
          <p:cNvSpPr/>
          <p:nvPr/>
        </p:nvSpPr>
        <p:spPr>
          <a:xfrm rot="0" flipH="0" flipV="0">
            <a:off x="5429250" y="4410075"/>
            <a:ext cx="95250" cy="95250"/>
          </a:xfrm>
          <a:prstGeom prst="roundRect">
            <a:avLst>
              <a:gd name="adj" fmla="val 50000"/>
            </a:avLst>
          </a:prstGeom>
          <a:solidFill>
            <a:srgbClr val="3B82F6"/>
          </a:solidFill>
          <a:ln/>
        </p:spPr>
        <p:txBody>
          <a:bodyPr/>
          <a:p>
            <a:pPr/>
            <a:endParaRPr/>
          </a:p>
        </p:txBody>
      </p:sp>
      <p:sp>
        <p:nvSpPr>
          <p:cNvPr id="221" name="" descr="{&quot;isTemplate&quot;:true,&quot;type&quot;:&quot;text&quot;}"/>
          <p:cNvSpPr txBox="1"/>
          <p:nvPr/>
        </p:nvSpPr>
        <p:spPr>
          <a:xfrm rot="0" flipH="0" flipV="0">
            <a:off x="5638800" y="4371975"/>
            <a:ext cx="30670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06B6D4"/>
                </a:solidFill>
                <a:latin typeface="Microsoft YaHei"/>
                <a:ea typeface="Microsoft YaHei"/>
              </a:rPr>
              <a:t>--jinja</a:t>
            </a:r>
            <a:r>
              <a:rPr lang="zh-CN" sz="1125">
                <a:solidFill>
                  <a:srgbClr val="F1F5F9"/>
                </a:solidFill>
                <a:latin typeface="Microsoft YaHei"/>
                <a:ea typeface="Microsoft YaHei"/>
              </a:rPr>
              <a:t>　启用思考档位开关（</a:t>
            </a:r>
            <a:r>
              <a:rPr lang="en-US" sz="1125">
                <a:solidFill>
                  <a:srgbClr val="F1F5F9"/>
                </a:solidFill>
                <a:latin typeface="Microsoft YaHei"/>
                <a:ea typeface="Microsoft YaHei"/>
              </a:rPr>
              <a:t>enable_thinking</a:t>
            </a:r>
            <a:r>
              <a:rPr lang="zh-CN" sz="1125">
                <a:solidFill>
                  <a:srgbClr val="F1F5F9"/>
                </a:solidFill>
                <a:latin typeface="Microsoft YaHei"/>
                <a:ea typeface="Microsoft YaHei"/>
              </a:rPr>
              <a:t>）</a:t>
            </a:r>
            <a:endParaRPr/>
          </a:p>
        </p:txBody>
      </p:sp>
      <p:sp>
        <p:nvSpPr>
          <p:cNvPr id="222" name=""/>
          <p:cNvSpPr/>
          <p:nvPr/>
        </p:nvSpPr>
        <p:spPr>
          <a:xfrm rot="0" flipH="0" flipV="0">
            <a:off x="5429250" y="4657725"/>
            <a:ext cx="95250" cy="95250"/>
          </a:xfrm>
          <a:prstGeom prst="roundRect">
            <a:avLst>
              <a:gd name="adj" fmla="val 50000"/>
            </a:avLst>
          </a:prstGeom>
          <a:solidFill>
            <a:srgbClr val="3B82F6"/>
          </a:solidFill>
          <a:ln/>
        </p:spPr>
        <p:txBody>
          <a:bodyPr/>
          <a:p>
            <a:pPr/>
            <a:endParaRPr/>
          </a:p>
        </p:txBody>
      </p:sp>
      <p:sp>
        <p:nvSpPr>
          <p:cNvPr id="223" name="" descr="{&quot;isTemplate&quot;:true,&quot;type&quot;:&quot;text&quot;}"/>
          <p:cNvSpPr txBox="1"/>
          <p:nvPr/>
        </p:nvSpPr>
        <p:spPr>
          <a:xfrm rot="0" flipH="0" flipV="0">
            <a:off x="5638800" y="4619625"/>
            <a:ext cx="33337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06B6D4"/>
                </a:solidFill>
                <a:latin typeface="Microsoft YaHei"/>
                <a:ea typeface="Microsoft YaHei"/>
              </a:rPr>
              <a:t>--cache-reuse 256</a:t>
            </a:r>
            <a:r>
              <a:rPr lang="zh-CN" sz="1125">
                <a:solidFill>
                  <a:srgbClr val="F1F5F9"/>
                </a:solidFill>
                <a:latin typeface="Microsoft YaHei"/>
                <a:ea typeface="Microsoft YaHei"/>
              </a:rPr>
              <a:t>　同卷多问复用</a:t>
            </a:r>
            <a:r>
              <a:rPr lang="en-US" sz="1125">
                <a:solidFill>
                  <a:srgbClr val="F1F5F9"/>
                </a:solidFill>
                <a:latin typeface="Microsoft YaHei"/>
                <a:ea typeface="Microsoft YaHei"/>
              </a:rPr>
              <a:t> KV</a:t>
            </a:r>
            <a:r>
              <a:rPr lang="zh-CN" sz="1125">
                <a:solidFill>
                  <a:srgbClr val="F1F5F9"/>
                </a:solidFill>
                <a:latin typeface="Microsoft YaHei"/>
                <a:ea typeface="Microsoft YaHei"/>
              </a:rPr>
              <a:t>，免重复预填</a:t>
            </a:r>
            <a:endParaRPr/>
          </a:p>
        </p:txBody>
      </p:sp>
      <p:sp>
        <p:nvSpPr>
          <p:cNvPr id="224" name=""/>
          <p:cNvSpPr/>
          <p:nvPr/>
        </p:nvSpPr>
        <p:spPr>
          <a:xfrm rot="0" flipH="0" flipV="0">
            <a:off x="5457825" y="4867275"/>
            <a:ext cx="5867400" cy="447675"/>
          </a:xfrm>
          <a:prstGeom prst="roundRect">
            <a:avLst>
              <a:gd name="adj" fmla="val 12766"/>
            </a:avLst>
          </a:prstGeom>
          <a:solidFill>
            <a:srgbClr val="F59E0B">
              <a:alpha val="8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225" name=""/>
          <p:cNvSpPr/>
          <p:nvPr/>
        </p:nvSpPr>
        <p:spPr>
          <a:xfrm rot="0" flipH="0" flipV="0">
            <a:off x="5457825" y="4867275"/>
            <a:ext cx="5867400" cy="447675"/>
          </a:xfrm>
          <a:custGeom>
            <a:pathLst>
              <a:path w="616" h="47">
                <a:moveTo>
                  <a:pt x="6" y="0"/>
                </a:moveTo>
                <a:cubicBezTo>
                  <a:pt x="4" y="0"/>
                  <a:pt x="3" y="1"/>
                  <a:pt x="3" y="3"/>
                </a:cubicBezTo>
                <a:lnTo>
                  <a:pt x="3" y="44"/>
                </a:lnTo>
                <a:cubicBezTo>
                  <a:pt x="3" y="45"/>
                  <a:pt x="4" y="47"/>
                  <a:pt x="5" y="47"/>
                </a:cubicBezTo>
                <a:cubicBezTo>
                  <a:pt x="2" y="47"/>
                  <a:pt x="0" y="44"/>
                  <a:pt x="0" y="41"/>
                </a:cubicBezTo>
                <a:lnTo>
                  <a:pt x="0" y="6"/>
                </a:lnTo>
                <a:cubicBezTo>
                  <a:pt x="0" y="3"/>
                  <a:pt x="3" y="0"/>
                  <a:pt x="6" y="0"/>
                </a:cubicBezTo>
                <a:close/>
              </a:path>
            </a:pathLst>
          </a:custGeom>
          <a:solidFill>
            <a:srgbClr val="F59E0B"/>
          </a:solidFill>
          <a:ln/>
        </p:spPr>
        <p:txBody>
          <a:bodyPr/>
          <a:p>
            <a:pPr/>
            <a:endParaRPr/>
          </a:p>
        </p:txBody>
      </p:sp>
      <p:sp>
        <p:nvSpPr>
          <p:cNvPr id="226" name="" descr="{&quot;isTemplate&quot;:true,&quot;type&quot;:&quot;text&quot;}"/>
          <p:cNvSpPr txBox="1"/>
          <p:nvPr/>
        </p:nvSpPr>
        <p:spPr>
          <a:xfrm rot="0" flipH="0" flipV="0">
            <a:off x="5591175" y="4962525"/>
            <a:ext cx="5572125" cy="257175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1050" b="1">
                <a:solidFill>
                  <a:srgbClr val="F59E0B"/>
                </a:solidFill>
                <a:latin typeface="Microsoft YaHei"/>
                <a:ea typeface="Microsoft YaHei"/>
              </a:rPr>
              <a:t>如实说明：</a:t>
            </a:r>
            <a:r>
              <a:rPr lang="zh-CN" sz="1050">
                <a:solidFill>
                  <a:srgbClr val="F1F5F9"/>
                </a:solidFill>
                <a:latin typeface="Microsoft YaHei"/>
                <a:ea typeface="Microsoft YaHei"/>
              </a:rPr>
              <a:t>深档</a:t>
            </a:r>
            <a:r>
              <a:rPr lang="en-US" sz="1050">
                <a:solidFill>
                  <a:srgbClr val="F1F5F9"/>
                </a:solidFill>
                <a:latin typeface="Microsoft YaHei"/>
                <a:ea typeface="Microsoft YaHei"/>
              </a:rPr>
              <a:t> 40s </a:t>
            </a:r>
            <a:r>
              <a:rPr lang="zh-CN" sz="1050">
                <a:solidFill>
                  <a:srgbClr val="F1F5F9"/>
                </a:solidFill>
                <a:latin typeface="Microsoft YaHei"/>
                <a:ea typeface="Microsoft YaHei"/>
              </a:rPr>
              <a:t>是</a:t>
            </a:r>
            <a:r>
              <a:rPr lang="en-US" sz="1050">
                <a:solidFill>
                  <a:srgbClr val="F1F5F9"/>
                </a:solidFill>
                <a:latin typeface="Microsoft YaHei"/>
                <a:ea typeface="Microsoft YaHei"/>
              </a:rPr>
              <a:t> 4B </a:t>
            </a:r>
            <a:r>
              <a:rPr lang="zh-CN" sz="1050">
                <a:solidFill>
                  <a:srgbClr val="F1F5F9"/>
                </a:solidFill>
                <a:latin typeface="Microsoft YaHei"/>
                <a:ea typeface="Microsoft YaHei"/>
              </a:rPr>
              <a:t>在</a:t>
            </a:r>
            <a:r>
              <a:rPr lang="en-US" sz="1050">
                <a:solidFill>
                  <a:srgbClr val="F1F5F9"/>
                </a:solidFill>
                <a:latin typeface="Microsoft YaHei"/>
                <a:ea typeface="Microsoft YaHei"/>
              </a:rPr>
              <a:t> 8GB </a:t>
            </a:r>
            <a:r>
              <a:rPr lang="zh-CN" sz="1050">
                <a:solidFill>
                  <a:srgbClr val="F1F5F9"/>
                </a:solidFill>
                <a:latin typeface="Microsoft YaHei"/>
                <a:ea typeface="Microsoft YaHei"/>
              </a:rPr>
              <a:t>显卡上的物理上限——如实标注，用流式与路由缓解体感。</a:t>
            </a:r>
            <a:endParaRPr/>
          </a:p>
        </p:txBody>
      </p:sp>
      <p:sp>
        <p:nvSpPr>
          <p:cNvPr id="227" name="" descr="{&quot;isTemplate&quot;:true,&quot;type&quot;:&quot;text&quot;}"/>
          <p:cNvSpPr txBox="1"/>
          <p:nvPr/>
        </p:nvSpPr>
        <p:spPr>
          <a:xfrm rot="0" flipH="0" flipV="0">
            <a:off x="685800" y="6457950"/>
            <a:ext cx="17716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94A3B8"/>
                </a:solidFill>
                <a:latin typeface="Microsoft YaHei"/>
                <a:ea typeface="Microsoft YaHei"/>
              </a:rPr>
              <a:t>卷宗</a:t>
            </a:r>
            <a:r>
              <a:rPr lang="en-US" sz="1050">
                <a:solidFill>
                  <a:srgbClr val="94A3B8"/>
                </a:solidFill>
                <a:latin typeface="Microsoft YaHei"/>
                <a:ea typeface="Microsoft YaHei"/>
              </a:rPr>
              <a:t> · Spark-X2.5 </a:t>
            </a:r>
            <a:r>
              <a:rPr lang="zh-CN" sz="1050">
                <a:solidFill>
                  <a:srgbClr val="94A3B8"/>
                </a:solidFill>
                <a:latin typeface="Microsoft YaHei"/>
                <a:ea typeface="Microsoft YaHei"/>
              </a:rPr>
              <a:t>端侧挑战赛</a:t>
            </a:r>
            <a:endParaRPr/>
          </a:p>
        </p:txBody>
      </p:sp>
      <p:sp>
        <p:nvSpPr>
          <p:cNvPr id="228" name="" descr="{&quot;isTemplate&quot;:true,&quot;type&quot;:&quot;text&quot;}"/>
          <p:cNvSpPr txBox="1"/>
          <p:nvPr/>
        </p:nvSpPr>
        <p:spPr>
          <a:xfrm rot="0" flipH="0" flipV="0">
            <a:off x="11049000" y="645795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94A3B8"/>
                </a:solidFill>
                <a:latin typeface="Microsoft YaHei"/>
                <a:ea typeface="Microsoft YaHei"/>
              </a:rPr>
              <a:t>08 / 12</a:t>
            </a:r>
            <a:endParaRPr/>
          </a:p>
        </p:txBody>
      </p:sp>
    </p:spTree>
  </p:cSld>
</p:sld>
</file>

<file path=ppt/slides/slide9.xml><?xml version="1.0" encoding="utf-8"?>
<p:sld xmlns:p="http://schemas.openxmlformats.org/presentationml/2006/main" xmlns:a="http://schemas.openxmlformats.org/drawingml/2006/main" xmlns:a16="http://schemas.microsoft.com/office/drawing/2014/main" xmlns:mc="http://schemas.openxmlformats.org/markup-compatibility/2006" mc:Ignorable="a16">
  <p:cSld>
    <p:spTree>
      <p:nvGrpSpPr>
        <p:cNvPr id="22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p>
            <a:pPr/>
            <a:endParaRPr/>
          </a:p>
        </p:txBody>
      </p:sp>
      <p:sp>
        <p:nvSpPr>
          <p:cNvPr id="231" name="" descr="{&quot;isTemplate&quot;:true,&quot;type&quot;:&quot;text&quot;}"/>
          <p:cNvSpPr txBox="1"/>
          <p:nvPr/>
        </p:nvSpPr>
        <p:spPr>
          <a:xfrm rot="0" flipH="0" flipV="0">
            <a:off x="685800" y="381000"/>
            <a:ext cx="356235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F1F5F9"/>
                </a:solidFill>
                <a:latin typeface="Microsoft YaHei"/>
                <a:ea typeface="Microsoft YaHei"/>
              </a:rPr>
              <a:t>模型核心贡献：消融实验</a:t>
            </a:r>
            <a:endParaRPr/>
          </a:p>
        </p:txBody>
      </p:sp>
      <p:sp>
        <p:nvSpPr>
          <p:cNvPr id="232" name="" descr="{&quot;isTemplate&quot;:true,&quot;type&quot;:&quot;text&quot;}"/>
          <p:cNvSpPr txBox="1"/>
          <p:nvPr/>
        </p:nvSpPr>
        <p:spPr>
          <a:xfrm rot="0" flipH="0" flipV="0">
            <a:off x="10439400" y="495300"/>
            <a:ext cx="10668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spc="225">
                <a:solidFill>
                  <a:srgbClr val="94A3B8"/>
                </a:solidFill>
                <a:latin typeface="Microsoft YaHei"/>
                <a:ea typeface="Microsoft YaHei"/>
              </a:rPr>
              <a:t>06 · </a:t>
            </a:r>
            <a:r>
              <a:rPr lang="zh-CN" sz="1050" spc="225">
                <a:solidFill>
                  <a:srgbClr val="94A3B8"/>
                </a:solidFill>
                <a:latin typeface="Microsoft YaHei"/>
                <a:ea typeface="Microsoft YaHei"/>
              </a:rPr>
              <a:t>模型贡献</a:t>
            </a:r>
            <a:endParaRPr/>
          </a:p>
        </p:txBody>
      </p:sp>
      <p:graphicFrame>
        <p:nvGraphicFramePr>
          <p:cNvPr id="233" name=""/>
          <p:cNvGraphicFramePr/>
          <p:nvPr/>
        </p:nvGraphicFramePr>
        <p:xfrm rot="0" flipH="0" flipV="0">
          <a:off x="685800" y="1971675"/>
          <a:ext cx="4762500" cy="2209800"/>
        </p:xfrm>
        <a:graphic>
          <a:graphicData uri="http://schemas.openxmlformats.org/drawingml/2006/table">
            <a:tbl>
              <a:tblGrid>
                <a:gridCol w="1045273">
                  <a:extLst>
                    <a:ext uri="{9D8B030D-6E8A-4147-A177-3AD203B41FA5}">
                      <a16:colId val="1"/>
                    </a:ext>
                  </a:extLst>
                </a:gridCol>
                <a:gridCol w="1244673">
                  <a:extLst>
                    <a:ext uri="{9D8B030D-6E8A-4147-A177-3AD203B41FA5}">
                      <a16:colId val="2"/>
                    </a:ext>
                  </a:extLst>
                </a:gridCol>
                <a:gridCol w="2472554">
                  <a:extLst>
                    <a:ext uri="{9D8B030D-6E8A-4147-A177-3AD203B41FA5}">
                      <a16:colId val="3"/>
                    </a:ext>
                  </a:extLst>
                </a:gridCol>
              </a:tblGrid>
              <a:tr h="736600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00" b="1">
                          <a:solidFill>
                            <a:srgbClr val="3B82F6"/>
                          </a:solidFill>
                          <a:latin typeface="Microsoft YaHei"/>
                          <a:ea typeface="Microsoft YaHei"/>
                        </a:rPr>
                        <a:t>模型 ＼ 思考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00" b="1">
                          <a:solidFill>
                            <a:srgbClr val="3B82F6"/>
                          </a:solidFill>
                          <a:latin typeface="Microsoft YaHei"/>
                          <a:ea typeface="Microsoft YaHei"/>
                        </a:rPr>
                        <a:t>关思考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00" b="1">
                          <a:solidFill>
                            <a:srgbClr val="3B82F6"/>
                          </a:solidFill>
                          <a:latin typeface="Microsoft YaHei"/>
                          <a:ea typeface="Microsoft YaHei"/>
                        </a:rPr>
                        <a:t>开思考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val="1"/>
                  </a:ext>
                </a:extLst>
              </a:tr>
              <a:tr h="736600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00">
                          <a:solidFill>
                            <a:srgbClr val="F1F5F9"/>
                          </a:solidFill>
                          <a:latin typeface="Microsoft YaHei"/>
                          <a:ea typeface="Microsoft YaHei"/>
                        </a:rPr>
                        <a:t>1.7B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00">
                          <a:solidFill>
                            <a:srgbClr val="06B6D4"/>
                          </a:solidFill>
                          <a:latin typeface="Microsoft YaHei"/>
                          <a:ea typeface="Microsoft YaHei"/>
                        </a:rPr>
                        <a:t>134 tok/s 轻快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00" b="1">
                          <a:solidFill>
                            <a:srgbClr val="F59E0B"/>
                          </a:solidFill>
                          <a:latin typeface="Microsoft YaHei"/>
                          <a:ea typeface="Microsoft YaHei"/>
                        </a:rPr>
                        <a:t>思考 5027 字 · 回答 0 字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val="2"/>
                  </a:ext>
                </a:extLst>
              </a:tr>
              <a:tr h="736600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00">
                          <a:solidFill>
                            <a:srgbClr val="F1F5F9"/>
                          </a:solidFill>
                          <a:latin typeface="Microsoft YaHei"/>
                          <a:ea typeface="Microsoft YaHei"/>
                        </a:rPr>
                        <a:t>4B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00">
                          <a:solidFill>
                            <a:srgbClr val="F1F5F9"/>
                          </a:solidFill>
                          <a:latin typeface="Microsoft YaHei"/>
                          <a:ea typeface="Microsoft YaHei"/>
                        </a:rPr>
                        <a:t>63 tok/s 基线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00">
                          <a:solidFill>
                            <a:srgbClr val="06B6D4"/>
                          </a:solidFill>
                          <a:latin typeface="Microsoft YaHei"/>
                          <a:ea typeface="Microsoft YaHei"/>
                        </a:rPr>
                        <a:t>思考 3073 · 回答 1311（深档）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val="3"/>
                  </a:ext>
                </a:extLst>
              </a:tr>
            </a:tbl>
          </a:graphicData>
        </a:graphic>
      </p:graphicFrame>
      <p:sp>
        <p:nvSpPr>
          <p:cNvPr id="234" name="" descr="{&quot;isTemplate&quot;:true,&quot;type&quot;:&quot;text&quot;}"/>
          <p:cNvSpPr txBox="1"/>
          <p:nvPr/>
        </p:nvSpPr>
        <p:spPr>
          <a:xfrm rot="0" flipH="0" flipV="0">
            <a:off x="685800" y="4314825"/>
            <a:ext cx="47625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94A3B8"/>
                </a:solidFill>
                <a:latin typeface="Microsoft YaHei"/>
                <a:ea typeface="Microsoft YaHei"/>
              </a:rPr>
              <a:t>同卷同问实测</a:t>
            </a:r>
            <a:r>
              <a:rPr lang="en-US" sz="1050">
                <a:solidFill>
                  <a:srgbClr val="94A3B8"/>
                </a:solidFill>
                <a:latin typeface="Microsoft YaHei"/>
                <a:ea typeface="Microsoft YaHei"/>
              </a:rPr>
              <a:t> · 2026-09-18 · </a:t>
            </a:r>
            <a:r>
              <a:rPr lang="zh-CN" sz="1050">
                <a:solidFill>
                  <a:srgbClr val="94A3B8"/>
                </a:solidFill>
                <a:latin typeface="Microsoft YaHei"/>
                <a:ea typeface="Microsoft YaHei"/>
              </a:rPr>
              <a:t>预算上限</a:t>
            </a:r>
            <a:r>
              <a:rPr lang="en-US" sz="1050">
                <a:solidFill>
                  <a:srgbClr val="94A3B8"/>
                </a:solidFill>
                <a:latin typeface="Microsoft YaHei"/>
                <a:ea typeface="Microsoft YaHei"/>
              </a:rPr>
              <a:t> 4096 token</a:t>
            </a:r>
            <a:endParaRPr/>
          </a:p>
        </p:txBody>
      </p:sp>
      <p:sp>
        <p:nvSpPr>
          <p:cNvPr id="235" name=""/>
          <p:cNvSpPr/>
          <p:nvPr/>
        </p:nvSpPr>
        <p:spPr>
          <a:xfrm rot="0" flipH="0" flipV="0">
            <a:off x="714375" y="4610100"/>
            <a:ext cx="4762500" cy="933450"/>
          </a:xfrm>
          <a:prstGeom prst="roundRect">
            <a:avLst>
              <a:gd name="adj" fmla="val 6122"/>
            </a:avLst>
          </a:prstGeom>
          <a:solidFill>
            <a:srgbClr val="06B6D4">
              <a:alpha val="8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236" name=""/>
          <p:cNvSpPr/>
          <p:nvPr/>
        </p:nvSpPr>
        <p:spPr>
          <a:xfrm rot="0" flipH="0" flipV="0">
            <a:off x="714375" y="4610100"/>
            <a:ext cx="4762500" cy="933450"/>
          </a:xfrm>
          <a:custGeom>
            <a:pathLst>
              <a:path w="500" h="98">
                <a:moveTo>
                  <a:pt x="6" y="0"/>
                </a:moveTo>
                <a:cubicBezTo>
                  <a:pt x="4" y="0"/>
                  <a:pt x="3" y="1"/>
                  <a:pt x="3" y="3"/>
                </a:cubicBezTo>
                <a:lnTo>
                  <a:pt x="3" y="95"/>
                </a:lnTo>
                <a:cubicBezTo>
                  <a:pt x="3" y="96"/>
                  <a:pt x="4" y="98"/>
                  <a:pt x="5" y="98"/>
                </a:cubicBezTo>
                <a:cubicBezTo>
                  <a:pt x="2" y="98"/>
                  <a:pt x="0" y="95"/>
                  <a:pt x="0" y="92"/>
                </a:cubicBezTo>
                <a:lnTo>
                  <a:pt x="0" y="6"/>
                </a:lnTo>
                <a:cubicBezTo>
                  <a:pt x="0" y="3"/>
                  <a:pt x="3" y="0"/>
                  <a:pt x="6" y="0"/>
                </a:cubicBezTo>
                <a:close/>
              </a:path>
            </a:pathLst>
          </a:custGeom>
          <a:solidFill>
            <a:srgbClr val="06B6D4"/>
          </a:solidFill>
          <a:ln/>
        </p:spPr>
        <p:txBody>
          <a:bodyPr/>
          <a:p>
            <a:pPr/>
            <a:endParaRPr/>
          </a:p>
        </p:txBody>
      </p:sp>
      <p:sp>
        <p:nvSpPr>
          <p:cNvPr id="237" name="" descr="{&quot;isTemplate&quot;:true,&quot;type&quot;:&quot;text&quot;}"/>
          <p:cNvSpPr txBox="1"/>
          <p:nvPr/>
        </p:nvSpPr>
        <p:spPr>
          <a:xfrm rot="0" flipH="0" flipV="0">
            <a:off x="885825" y="4743450"/>
            <a:ext cx="4391025" cy="6667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350" b="1">
                <a:solidFill>
                  <a:srgbClr val="06B6D4"/>
                </a:solidFill>
                <a:latin typeface="Microsoft YaHei"/>
                <a:ea typeface="Microsoft YaHei"/>
              </a:rPr>
              <a:t>结论：</a:t>
            </a:r>
            <a:r>
              <a:rPr lang="zh-CN" sz="1350">
                <a:solidFill>
                  <a:srgbClr val="F1F5F9"/>
                </a:solidFill>
                <a:latin typeface="Microsoft YaHei"/>
                <a:ea typeface="Microsoft YaHei"/>
              </a:rPr>
              <a:t>小模型不适合长思考档——双模型分工是端侧的最优解</a:t>
            </a:r>
            <a:endParaRPr/>
          </a:p>
        </p:txBody>
      </p:sp>
      <p:sp>
        <p:nvSpPr>
          <p:cNvPr id="238" name="" descr="{&quot;isTemplate&quot;:true,&quot;type&quot;:&quot;text&quot;}"/>
          <p:cNvSpPr txBox="1"/>
          <p:nvPr/>
        </p:nvSpPr>
        <p:spPr>
          <a:xfrm rot="0" flipH="0" flipV="0">
            <a:off x="5753100" y="1743075"/>
            <a:ext cx="5753100" cy="1009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6600" b="1">
                <a:solidFill>
                  <a:srgbClr val="F59E0B"/>
                </a:solidFill>
                <a:latin typeface="Inter"/>
                <a:ea typeface="Inter"/>
              </a:rPr>
              <a:t>5027 </a:t>
            </a:r>
            <a:r>
              <a:rPr lang="zh-CN" sz="6600" b="1">
                <a:solidFill>
                  <a:srgbClr val="F59E0B"/>
                </a:solidFill>
                <a:latin typeface="Inter"/>
                <a:ea typeface="Inter"/>
              </a:rPr>
              <a:t>字</a:t>
            </a:r>
            <a:endParaRPr/>
          </a:p>
        </p:txBody>
      </p:sp>
      <p:sp>
        <p:nvSpPr>
          <p:cNvPr id="239" name="" descr="{&quot;isTemplate&quot;:true,&quot;type&quot;:&quot;text&quot;}"/>
          <p:cNvSpPr txBox="1"/>
          <p:nvPr/>
        </p:nvSpPr>
        <p:spPr>
          <a:xfrm rot="0" flipH="0" flipV="0">
            <a:off x="5753100" y="2828925"/>
            <a:ext cx="57531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>
                <a:solidFill>
                  <a:srgbClr val="94A3B8"/>
                </a:solidFill>
                <a:latin typeface="Microsoft YaHei"/>
                <a:ea typeface="Microsoft YaHei"/>
              </a:rPr>
              <a:t>1.7B </a:t>
            </a:r>
            <a:r>
              <a:rPr lang="zh-CN" sz="1500">
                <a:solidFill>
                  <a:srgbClr val="94A3B8"/>
                </a:solidFill>
                <a:latin typeface="Microsoft YaHei"/>
                <a:ea typeface="Microsoft YaHei"/>
              </a:rPr>
              <a:t>开思考：一路「想」个不停，耗尽输出预算</a:t>
            </a:r>
            <a:endParaRPr/>
          </a:p>
        </p:txBody>
      </p:sp>
      <p:sp>
        <p:nvSpPr>
          <p:cNvPr id="240" name="" descr="{&quot;isTemplate&quot;:true,&quot;type&quot;:&quot;text&quot;}"/>
          <p:cNvSpPr txBox="1"/>
          <p:nvPr/>
        </p:nvSpPr>
        <p:spPr>
          <a:xfrm rot="0" flipH="0" flipV="0">
            <a:off x="5753100" y="3228975"/>
            <a:ext cx="5753100" cy="1447800"/>
          </a:xfrm>
          <a:prstGeom prst="rect"/>
        </p:spPr>
        <p:txBody>
          <a:bodyPr wrap="none" lIns="0" tIns="0" rIns="0" bIns="0"/>
          <a:p>
            <a:pPr>
              <a:lnSpc>
                <a:spcPct val="105000"/>
              </a:lnSpc>
            </a:pPr>
            <a:r>
              <a:rPr lang="en-US" sz="9000" b="1">
                <a:solidFill>
                  <a:srgbClr val="F1F5F9"/>
                </a:solidFill>
                <a:latin typeface="Inter"/>
                <a:ea typeface="Inter"/>
              </a:rPr>
              <a:t>0 </a:t>
            </a:r>
            <a:r>
              <a:rPr lang="zh-CN" sz="9000" b="1">
                <a:solidFill>
                  <a:srgbClr val="F1F5F9"/>
                </a:solidFill>
                <a:latin typeface="Inter"/>
                <a:ea typeface="Inter"/>
              </a:rPr>
              <a:t>字</a:t>
            </a:r>
            <a:endParaRPr/>
          </a:p>
        </p:txBody>
      </p:sp>
      <p:sp>
        <p:nvSpPr>
          <p:cNvPr id="241" name="" descr="{&quot;isTemplate&quot;:true,&quot;type&quot;:&quot;text&quot;}"/>
          <p:cNvSpPr txBox="1"/>
          <p:nvPr/>
        </p:nvSpPr>
        <p:spPr>
          <a:xfrm rot="0" flipH="0" flipV="0">
            <a:off x="5753100" y="4752975"/>
            <a:ext cx="57531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>
                <a:solidFill>
                  <a:srgbClr val="94A3B8"/>
                </a:solidFill>
                <a:latin typeface="Microsoft YaHei"/>
                <a:ea typeface="Microsoft YaHei"/>
              </a:rPr>
              <a:t>正式回答一个字都没输出</a:t>
            </a:r>
            <a:endParaRPr/>
          </a:p>
        </p:txBody>
      </p:sp>
      <p:sp>
        <p:nvSpPr>
          <p:cNvPr id="242" name=""/>
          <p:cNvSpPr/>
          <p:nvPr/>
        </p:nvSpPr>
        <p:spPr>
          <a:xfrm rot="0" flipH="0" flipV="0">
            <a:off x="5753100" y="5191125"/>
            <a:ext cx="5753100" cy="581025"/>
          </a:xfrm>
          <a:prstGeom prst="roundRect">
            <a:avLst>
              <a:gd name="adj" fmla="val 16393"/>
            </a:avLst>
          </a:prstGeom>
          <a:solidFill>
            <a:srgbClr val="1E293B"/>
          </a:solidFill>
          <a:ln/>
        </p:spPr>
        <p:txBody>
          <a:bodyPr/>
          <a:p>
            <a:pPr/>
            <a:endParaRPr/>
          </a:p>
        </p:txBody>
      </p:sp>
      <p:sp>
        <p:nvSpPr>
          <p:cNvPr id="243" name="" descr="{&quot;isTemplate&quot;:true,&quot;type&quot;:&quot;text&quot;}"/>
          <p:cNvSpPr txBox="1"/>
          <p:nvPr/>
        </p:nvSpPr>
        <p:spPr>
          <a:xfrm rot="0" flipH="0" flipV="0">
            <a:off x="5924550" y="5324475"/>
            <a:ext cx="5410200" cy="3143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275" b="1">
                <a:solidFill>
                  <a:srgbClr val="3B82F6"/>
                </a:solidFill>
                <a:latin typeface="Microsoft YaHei"/>
                <a:ea typeface="Microsoft YaHei"/>
              </a:rPr>
              <a:t>深档必须用</a:t>
            </a:r>
            <a:r>
              <a:rPr lang="en-US" sz="1275" b="1">
                <a:solidFill>
                  <a:srgbClr val="3B82F6"/>
                </a:solidFill>
                <a:latin typeface="Microsoft YaHei"/>
                <a:ea typeface="Microsoft YaHei"/>
              </a:rPr>
              <a:t> 4B</a:t>
            </a:r>
            <a:r>
              <a:rPr lang="zh-CN" sz="1275">
                <a:solidFill>
                  <a:srgbClr val="F1F5F9"/>
                </a:solidFill>
                <a:latin typeface="Microsoft YaHei"/>
                <a:ea typeface="Microsoft YaHei"/>
              </a:rPr>
              <a:t>——这是实验证据，不是主观选择</a:t>
            </a:r>
            <a:endParaRPr/>
          </a:p>
        </p:txBody>
      </p:sp>
      <p:sp>
        <p:nvSpPr>
          <p:cNvPr id="244" name="" descr="{&quot;isTemplate&quot;:true,&quot;type&quot;:&quot;text&quot;}"/>
          <p:cNvSpPr txBox="1"/>
          <p:nvPr/>
        </p:nvSpPr>
        <p:spPr>
          <a:xfrm rot="0" flipH="0" flipV="0">
            <a:off x="685800" y="6457950"/>
            <a:ext cx="17716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94A3B8"/>
                </a:solidFill>
                <a:latin typeface="Microsoft YaHei"/>
                <a:ea typeface="Microsoft YaHei"/>
              </a:rPr>
              <a:t>卷宗</a:t>
            </a:r>
            <a:r>
              <a:rPr lang="en-US" sz="1050">
                <a:solidFill>
                  <a:srgbClr val="94A3B8"/>
                </a:solidFill>
                <a:latin typeface="Microsoft YaHei"/>
                <a:ea typeface="Microsoft YaHei"/>
              </a:rPr>
              <a:t> · Spark-X2.5 </a:t>
            </a:r>
            <a:r>
              <a:rPr lang="zh-CN" sz="1050">
                <a:solidFill>
                  <a:srgbClr val="94A3B8"/>
                </a:solidFill>
                <a:latin typeface="Microsoft YaHei"/>
                <a:ea typeface="Microsoft YaHei"/>
              </a:rPr>
              <a:t>端侧挑战赛</a:t>
            </a:r>
            <a:endParaRPr/>
          </a:p>
        </p:txBody>
      </p:sp>
      <p:sp>
        <p:nvSpPr>
          <p:cNvPr id="245" name="" descr="{&quot;isTemplate&quot;:true,&quot;type&quot;:&quot;text&quot;}"/>
          <p:cNvSpPr txBox="1"/>
          <p:nvPr/>
        </p:nvSpPr>
        <p:spPr>
          <a:xfrm rot="0" flipH="0" flipV="0">
            <a:off x="11049000" y="645795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94A3B8"/>
                </a:solidFill>
                <a:latin typeface="Microsoft YaHei"/>
                <a:ea typeface="Microsoft YaHei"/>
              </a:rPr>
              <a:t>09 / 12</a:t>
            </a:r>
            <a:endParaRPr/>
          </a:p>
        </p:txBody>
      </p:sp>
    </p:spTree>
  </p:cSld>
</p:sld>
</file>

<file path=ppt/slides/slide10.xml><?xml version="1.0" encoding="utf-8"?>
<p:sld xmlns:p="http://schemas.openxmlformats.org/presentationml/2006/main" xmlns:r="http://schemas.openxmlformats.org/officeDocument/2006/relationships" xmlns:a="http://schemas.openxmlformats.org/drawingml/2006/main" xmlns:asvg="http://schemas.microsoft.com/office/drawing/2016/SVG/main" xmlns:mc="http://schemas.openxmlformats.org/markup-compatibility/2006" mc:Ignorable="asvg">
  <p:cSld>
    <p:spTree>
      <p:nvGrpSpPr>
        <p:cNvPr id="1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p>
            <a:pPr/>
            <a:endParaRPr/>
          </a:p>
        </p:txBody>
      </p:sp>
      <p:sp>
        <p:nvSpPr>
          <p:cNvPr id="18" name="" descr="{&quot;isTemplate&quot;:true,&quot;type&quot;:&quot;text&quot;}"/>
          <p:cNvSpPr txBox="1"/>
          <p:nvPr/>
        </p:nvSpPr>
        <p:spPr>
          <a:xfrm rot="0" flipH="0" flipV="0">
            <a:off x="685800" y="381000"/>
            <a:ext cx="32385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F1F5F9"/>
                </a:solidFill>
                <a:latin typeface="Microsoft YaHei"/>
                <a:ea typeface="Microsoft YaHei"/>
              </a:rPr>
              <a:t>端到端闭环与工程质量</a:t>
            </a:r>
            <a:endParaRPr/>
          </a:p>
        </p:txBody>
      </p:sp>
      <p:sp>
        <p:nvSpPr>
          <p:cNvPr id="19" name="" descr="{&quot;isTemplate&quot;:true,&quot;type&quot;:&quot;text&quot;}"/>
          <p:cNvSpPr txBox="1"/>
          <p:nvPr/>
        </p:nvSpPr>
        <p:spPr>
          <a:xfrm rot="0" flipH="0" flipV="0">
            <a:off x="10439400" y="495300"/>
            <a:ext cx="10668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spc="225">
                <a:solidFill>
                  <a:srgbClr val="94A3B8"/>
                </a:solidFill>
                <a:latin typeface="Microsoft YaHei"/>
                <a:ea typeface="Microsoft YaHei"/>
              </a:rPr>
              <a:t>07 · </a:t>
            </a:r>
            <a:r>
              <a:rPr lang="zh-CN" sz="1050" spc="225">
                <a:solidFill>
                  <a:srgbClr val="94A3B8"/>
                </a:solidFill>
                <a:latin typeface="Microsoft YaHei"/>
                <a:ea typeface="Microsoft YaHei"/>
              </a:rPr>
              <a:t>工程质量</a:t>
            </a:r>
            <a:endParaRPr/>
          </a:p>
        </p:txBody>
      </p:sp>
      <p:pic>
        <p:nvPicPr>
          <p:cNvPr id="20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685800" y="1104900"/>
            <a:ext cx="10820400" cy="990600"/>
          </a:xfrm>
          <a:prstGeom prst="rect">
            <a:avLst/>
          </a:prstGeom>
          <a:ln/>
        </p:spPr>
      </p:pic>
      <p:sp>
        <p:nvSpPr>
          <p:cNvPr id="21" name=""/>
          <p:cNvSpPr/>
          <p:nvPr/>
        </p:nvSpPr>
        <p:spPr>
          <a:xfrm rot="0" flipH="0" flipV="0">
            <a:off x="685800" y="2228850"/>
            <a:ext cx="3514725" cy="1076325"/>
          </a:xfrm>
          <a:prstGeom prst="roundRect">
            <a:avLst>
              <a:gd name="adj" fmla="val 8850"/>
            </a:avLst>
          </a:prstGeom>
          <a:solidFill>
            <a:srgbClr val="1E293B"/>
          </a:solidFill>
          <a:ln/>
        </p:spPr>
        <p:txBody>
          <a:bodyPr/>
          <a:p>
            <a:pPr/>
            <a:endParaRPr/>
          </a:p>
        </p:txBody>
      </p:sp>
      <p:pic>
        <p:nvPicPr>
          <p:cNvPr id="22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2"/>
              </a:ext>
            </a:extLst>
          </a:blip>
          <a:stretch>
            <a:fillRect/>
          </a:stretch>
        </p:blipFill>
        <p:spPr>
          <a:xfrm rot="0" flipH="0" flipV="0">
            <a:off x="838200" y="2362200"/>
            <a:ext cx="228600" cy="228600"/>
          </a:xfrm>
          <a:prstGeom prst="rect">
            <a:avLst/>
          </a:prstGeom>
          <a:ln/>
        </p:spPr>
      </p:pic>
      <p:sp>
        <p:nvSpPr>
          <p:cNvPr id="23" name="" descr="{&quot;isTemplate&quot;:true,&quot;type&quot;:&quot;text&quot;}"/>
          <p:cNvSpPr txBox="1"/>
          <p:nvPr/>
        </p:nvSpPr>
        <p:spPr>
          <a:xfrm rot="0" flipH="0" flipV="0">
            <a:off x="1162050" y="2381250"/>
            <a:ext cx="10096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F1F5F9"/>
                </a:solidFill>
                <a:latin typeface="Microsoft YaHei"/>
                <a:ea typeface="Microsoft YaHei"/>
              </a:rPr>
              <a:t>inference.py</a:t>
            </a:r>
            <a:endParaRPr/>
          </a:p>
        </p:txBody>
      </p:sp>
      <p:sp>
        <p:nvSpPr>
          <p:cNvPr id="24" name="" descr="{&quot;isTemplate&quot;:true,&quot;type&quot;:&quot;text&quot;}"/>
          <p:cNvSpPr txBox="1"/>
          <p:nvPr/>
        </p:nvSpPr>
        <p:spPr>
          <a:xfrm rot="0" flipH="0" flipV="0">
            <a:off x="838200" y="2667000"/>
            <a:ext cx="3209925" cy="5048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050">
                <a:solidFill>
                  <a:srgbClr val="94A3B8"/>
                </a:solidFill>
                <a:latin typeface="Microsoft YaHei"/>
                <a:ea typeface="Microsoft YaHei"/>
              </a:rPr>
              <a:t>双模型加载、</a:t>
            </a:r>
            <a:r>
              <a:rPr lang="en-US" sz="1050">
                <a:solidFill>
                  <a:srgbClr val="94A3B8"/>
                </a:solidFill>
                <a:latin typeface="Microsoft YaHei"/>
                <a:ea typeface="Microsoft YaHei"/>
              </a:rPr>
              <a:t>SSE </a:t>
            </a:r>
            <a:r>
              <a:rPr lang="zh-CN" sz="1050">
                <a:solidFill>
                  <a:srgbClr val="94A3B8"/>
                </a:solidFill>
                <a:latin typeface="Microsoft YaHei"/>
                <a:ea typeface="Microsoft YaHei"/>
              </a:rPr>
              <a:t>流式封装、</a:t>
            </a:r>
            <a:r>
              <a:rPr lang="en-US" sz="1050">
                <a:solidFill>
                  <a:srgbClr val="94A3B8"/>
                </a:solidFill>
                <a:latin typeface="Microsoft YaHei"/>
                <a:ea typeface="Microsoft YaHei"/>
              </a:rPr>
              <a:t>usage </a:t>
            </a:r>
            <a:r>
              <a:rPr lang="zh-CN" sz="1050">
                <a:solidFill>
                  <a:srgbClr val="94A3B8"/>
                </a:solidFill>
                <a:latin typeface="Microsoft YaHei"/>
                <a:ea typeface="Microsoft YaHei"/>
              </a:rPr>
              <a:t>与首字时延埋点，供上层三档调用</a:t>
            </a:r>
            <a:endParaRPr/>
          </a:p>
        </p:txBody>
      </p:sp>
      <p:sp>
        <p:nvSpPr>
          <p:cNvPr id="25" name=""/>
          <p:cNvSpPr/>
          <p:nvPr/>
        </p:nvSpPr>
        <p:spPr>
          <a:xfrm rot="0" flipH="0" flipV="0">
            <a:off x="4333875" y="2228850"/>
            <a:ext cx="3514725" cy="1076325"/>
          </a:xfrm>
          <a:prstGeom prst="roundRect">
            <a:avLst>
              <a:gd name="adj" fmla="val 8850"/>
            </a:avLst>
          </a:prstGeom>
          <a:solidFill>
            <a:srgbClr val="1E293B"/>
          </a:solidFill>
          <a:ln/>
        </p:spPr>
        <p:txBody>
          <a:bodyPr/>
          <a:p>
            <a:pPr/>
            <a:endParaRPr/>
          </a:p>
        </p:txBody>
      </p:sp>
      <p:pic>
        <p:nvPicPr>
          <p:cNvPr id="26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3"/>
              </a:ext>
            </a:extLst>
          </a:blip>
          <a:stretch>
            <a:fillRect/>
          </a:stretch>
        </p:blipFill>
        <p:spPr>
          <a:xfrm rot="0" flipH="0" flipV="0">
            <a:off x="4486275" y="2362200"/>
            <a:ext cx="228600" cy="228600"/>
          </a:xfrm>
          <a:prstGeom prst="rect">
            <a:avLst/>
          </a:prstGeom>
          <a:ln/>
        </p:spPr>
      </p:pic>
      <p:sp>
        <p:nvSpPr>
          <p:cNvPr id="27" name="" descr="{&quot;isTemplate&quot;:true,&quot;type&quot;:&quot;text&quot;}"/>
          <p:cNvSpPr txBox="1"/>
          <p:nvPr/>
        </p:nvSpPr>
        <p:spPr>
          <a:xfrm rot="0" flipH="0" flipV="0">
            <a:off x="4810125" y="2381250"/>
            <a:ext cx="7429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F1F5F9"/>
                </a:solidFill>
                <a:latin typeface="Microsoft YaHei"/>
                <a:ea typeface="Microsoft YaHei"/>
              </a:rPr>
              <a:t>router.py</a:t>
            </a:r>
            <a:endParaRPr/>
          </a:p>
        </p:txBody>
      </p:sp>
      <p:sp>
        <p:nvSpPr>
          <p:cNvPr id="28" name="" descr="{&quot;isTemplate&quot;:true,&quot;type&quot;:&quot;text&quot;}"/>
          <p:cNvSpPr txBox="1"/>
          <p:nvPr/>
        </p:nvSpPr>
        <p:spPr>
          <a:xfrm rot="0" flipH="0" flipV="0">
            <a:off x="4486275" y="2667000"/>
            <a:ext cx="3209925" cy="5048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050">
                <a:solidFill>
                  <a:srgbClr val="94A3B8"/>
                </a:solidFill>
                <a:latin typeface="Microsoft YaHei"/>
                <a:ea typeface="Microsoft YaHei"/>
              </a:rPr>
              <a:t>三档路由与按档</a:t>
            </a:r>
            <a:r>
              <a:rPr lang="en-US" sz="1050">
                <a:solidFill>
                  <a:srgbClr val="94A3B8"/>
                </a:solidFill>
                <a:latin typeface="Microsoft YaHei"/>
                <a:ea typeface="Microsoft YaHei"/>
              </a:rPr>
              <a:t> token </a:t>
            </a:r>
            <a:r>
              <a:rPr lang="zh-CN" sz="1050">
                <a:solidFill>
                  <a:srgbClr val="94A3B8"/>
                </a:solidFill>
                <a:latin typeface="Microsoft YaHei"/>
                <a:ea typeface="Microsoft YaHei"/>
              </a:rPr>
              <a:t>预算；思考超限自动关思考重试，保可用性</a:t>
            </a:r>
            <a:endParaRPr/>
          </a:p>
        </p:txBody>
      </p:sp>
      <p:sp>
        <p:nvSpPr>
          <p:cNvPr id="29" name=""/>
          <p:cNvSpPr/>
          <p:nvPr/>
        </p:nvSpPr>
        <p:spPr>
          <a:xfrm rot="0" flipH="0" flipV="0">
            <a:off x="7981950" y="2228850"/>
            <a:ext cx="3524250" cy="1076325"/>
          </a:xfrm>
          <a:prstGeom prst="roundRect">
            <a:avLst>
              <a:gd name="adj" fmla="val 8850"/>
            </a:avLst>
          </a:prstGeom>
          <a:solidFill>
            <a:srgbClr val="1E293B"/>
          </a:solidFill>
          <a:ln/>
        </p:spPr>
        <p:txBody>
          <a:bodyPr/>
          <a:p>
            <a:pPr/>
            <a:endParaRPr/>
          </a:p>
        </p:txBody>
      </p:sp>
      <p:pic>
        <p:nvPicPr>
          <p:cNvPr id="30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4"/>
              </a:ext>
            </a:extLst>
          </a:blip>
          <a:stretch>
            <a:fillRect/>
          </a:stretch>
        </p:blipFill>
        <p:spPr>
          <a:xfrm rot="0" flipH="0" flipV="0">
            <a:off x="8134350" y="2362200"/>
            <a:ext cx="228600" cy="228600"/>
          </a:xfrm>
          <a:prstGeom prst="rect">
            <a:avLst/>
          </a:prstGeom>
          <a:ln/>
        </p:spPr>
      </p:pic>
      <p:sp>
        <p:nvSpPr>
          <p:cNvPr id="31" name="" descr="{&quot;isTemplate&quot;:true,&quot;type&quot;:&quot;text&quot;}"/>
          <p:cNvSpPr txBox="1"/>
          <p:nvPr/>
        </p:nvSpPr>
        <p:spPr>
          <a:xfrm rot="0" flipH="0" flipV="0">
            <a:off x="8458200" y="2381250"/>
            <a:ext cx="86677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F1F5F9"/>
                </a:solidFill>
                <a:latin typeface="Microsoft YaHei"/>
                <a:ea typeface="Microsoft YaHei"/>
              </a:rPr>
              <a:t>citation.py</a:t>
            </a:r>
            <a:endParaRPr/>
          </a:p>
        </p:txBody>
      </p:sp>
      <p:sp>
        <p:nvSpPr>
          <p:cNvPr id="32" name="" descr="{&quot;isTemplate&quot;:true,&quot;type&quot;:&quot;text&quot;}"/>
          <p:cNvSpPr txBox="1"/>
          <p:nvPr/>
        </p:nvSpPr>
        <p:spPr>
          <a:xfrm rot="0" flipH="0" flipV="0">
            <a:off x="8134350" y="2667000"/>
            <a:ext cx="3219450" cy="5048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en-US" sz="1050">
                <a:solidFill>
                  <a:srgbClr val="94A3B8"/>
                </a:solidFill>
                <a:latin typeface="Microsoft YaHei"/>
                <a:ea typeface="Microsoft YaHei"/>
              </a:rPr>
              <a:t>8-gram </a:t>
            </a:r>
            <a:r>
              <a:rPr lang="zh-CN" sz="1050">
                <a:solidFill>
                  <a:srgbClr val="94A3B8"/>
                </a:solidFill>
                <a:latin typeface="Microsoft YaHei"/>
                <a:ea typeface="Microsoft YaHei"/>
              </a:rPr>
              <a:t>索引、短句子串兜底、标题前缀剥离（</a:t>
            </a:r>
            <a:r>
              <a:rPr lang="en-US" sz="1050">
                <a:solidFill>
                  <a:srgbClr val="94A3B8"/>
                </a:solidFill>
                <a:latin typeface="Microsoft YaHei"/>
                <a:ea typeface="Microsoft YaHei"/>
              </a:rPr>
              <a:t>3/13 → 5/13</a:t>
            </a:r>
            <a:r>
              <a:rPr lang="zh-CN" sz="1050">
                <a:solidFill>
                  <a:srgbClr val="94A3B8"/>
                </a:solidFill>
                <a:latin typeface="Microsoft YaHei"/>
                <a:ea typeface="Microsoft YaHei"/>
              </a:rPr>
              <a:t>）</a:t>
            </a:r>
            <a:endParaRPr/>
          </a:p>
        </p:txBody>
      </p:sp>
      <p:sp>
        <p:nvSpPr>
          <p:cNvPr id="33" name=""/>
          <p:cNvSpPr/>
          <p:nvPr/>
        </p:nvSpPr>
        <p:spPr>
          <a:xfrm rot="0" flipH="0" flipV="0">
            <a:off x="685800" y="3438525"/>
            <a:ext cx="3514725" cy="1076325"/>
          </a:xfrm>
          <a:prstGeom prst="roundRect">
            <a:avLst>
              <a:gd name="adj" fmla="val 8850"/>
            </a:avLst>
          </a:prstGeom>
          <a:solidFill>
            <a:srgbClr val="1E293B"/>
          </a:solidFill>
          <a:ln/>
        </p:spPr>
        <p:txBody>
          <a:bodyPr/>
          <a:p>
            <a:pPr/>
            <a:endParaRPr/>
          </a:p>
        </p:txBody>
      </p:sp>
      <p:pic>
        <p:nvPicPr>
          <p:cNvPr id="34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5"/>
              </a:ext>
            </a:extLst>
          </a:blip>
          <a:stretch>
            <a:fillRect/>
          </a:stretch>
        </p:blipFill>
        <p:spPr>
          <a:xfrm rot="0" flipH="0" flipV="0">
            <a:off x="838200" y="3571875"/>
            <a:ext cx="228600" cy="228600"/>
          </a:xfrm>
          <a:prstGeom prst="rect">
            <a:avLst/>
          </a:prstGeom>
          <a:ln/>
        </p:spPr>
      </p:pic>
      <p:sp>
        <p:nvSpPr>
          <p:cNvPr id="35" name="" descr="{&quot;isTemplate&quot;:true,&quot;type&quot;:&quot;text&quot;}"/>
          <p:cNvSpPr txBox="1"/>
          <p:nvPr/>
        </p:nvSpPr>
        <p:spPr>
          <a:xfrm rot="0" flipH="0" flipV="0">
            <a:off x="1162050" y="3590925"/>
            <a:ext cx="109537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F1F5F9"/>
                </a:solidFill>
                <a:latin typeface="Microsoft YaHei"/>
                <a:ea typeface="Microsoft YaHei"/>
              </a:rPr>
              <a:t>app.py </a:t>
            </a:r>
            <a:r>
              <a:rPr lang="zh-CN" sz="1275" b="1">
                <a:solidFill>
                  <a:srgbClr val="F1F5F9"/>
                </a:solidFill>
                <a:latin typeface="Microsoft YaHei"/>
                <a:ea typeface="Microsoft YaHei"/>
              </a:rPr>
              <a:t>工作台</a:t>
            </a:r>
            <a:endParaRPr/>
          </a:p>
        </p:txBody>
      </p:sp>
      <p:sp>
        <p:nvSpPr>
          <p:cNvPr id="36" name="" descr="{&quot;isTemplate&quot;:true,&quot;type&quot;:&quot;text&quot;}"/>
          <p:cNvSpPr txBox="1"/>
          <p:nvPr/>
        </p:nvSpPr>
        <p:spPr>
          <a:xfrm rot="0" flipH="0" flipV="0">
            <a:off x="838200" y="3876675"/>
            <a:ext cx="3209925" cy="5048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en-US" sz="1050">
                <a:solidFill>
                  <a:srgbClr val="94A3B8"/>
                </a:solidFill>
                <a:latin typeface="Microsoft YaHei"/>
                <a:ea typeface="Microsoft YaHei"/>
              </a:rPr>
              <a:t>Gradio </a:t>
            </a:r>
            <a:r>
              <a:rPr lang="zh-CN" sz="1050">
                <a:solidFill>
                  <a:srgbClr val="94A3B8"/>
                </a:solidFill>
                <a:latin typeface="Microsoft YaHei"/>
                <a:ea typeface="Microsoft YaHei"/>
              </a:rPr>
              <a:t>界面：思考折叠、页码标注、三级溯源提示，单页即用</a:t>
            </a:r>
            <a:endParaRPr/>
          </a:p>
        </p:txBody>
      </p:sp>
      <p:sp>
        <p:nvSpPr>
          <p:cNvPr id="37" name=""/>
          <p:cNvSpPr/>
          <p:nvPr/>
        </p:nvSpPr>
        <p:spPr>
          <a:xfrm rot="0" flipH="0" flipV="0">
            <a:off x="4333875" y="3438525"/>
            <a:ext cx="3514725" cy="1076325"/>
          </a:xfrm>
          <a:prstGeom prst="roundRect">
            <a:avLst>
              <a:gd name="adj" fmla="val 8850"/>
            </a:avLst>
          </a:prstGeom>
          <a:solidFill>
            <a:srgbClr val="1E293B"/>
          </a:solidFill>
          <a:ln/>
        </p:spPr>
        <p:txBody>
          <a:bodyPr/>
          <a:p>
            <a:pPr/>
            <a:endParaRPr/>
          </a:p>
        </p:txBody>
      </p:sp>
      <p:pic>
        <p:nvPicPr>
          <p:cNvPr id="38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6"/>
              </a:ext>
            </a:extLst>
          </a:blip>
          <a:stretch>
            <a:fillRect/>
          </a:stretch>
        </p:blipFill>
        <p:spPr>
          <a:xfrm rot="0" flipH="0" flipV="0">
            <a:off x="4486275" y="3571875"/>
            <a:ext cx="228600" cy="228600"/>
          </a:xfrm>
          <a:prstGeom prst="rect">
            <a:avLst/>
          </a:prstGeom>
          <a:ln/>
        </p:spPr>
      </p:pic>
      <p:sp>
        <p:nvSpPr>
          <p:cNvPr id="39" name="" descr="{&quot;isTemplate&quot;:true,&quot;type&quot;:&quot;text&quot;}"/>
          <p:cNvSpPr txBox="1"/>
          <p:nvPr/>
        </p:nvSpPr>
        <p:spPr>
          <a:xfrm rot="0" flipH="0" flipV="0">
            <a:off x="4810125" y="3590925"/>
            <a:ext cx="107632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F1F5F9"/>
                </a:solidFill>
                <a:latin typeface="Microsoft YaHei"/>
                <a:ea typeface="Microsoft YaHei"/>
              </a:rPr>
              <a:t>scripts </a:t>
            </a:r>
            <a:r>
              <a:rPr lang="zh-CN" sz="1275" b="1">
                <a:solidFill>
                  <a:srgbClr val="F1F5F9"/>
                </a:solidFill>
                <a:latin typeface="Microsoft YaHei"/>
                <a:ea typeface="Microsoft YaHei"/>
              </a:rPr>
              <a:t>工具链</a:t>
            </a:r>
            <a:endParaRPr/>
          </a:p>
        </p:txBody>
      </p:sp>
      <p:sp>
        <p:nvSpPr>
          <p:cNvPr id="40" name="" descr="{&quot;isTemplate&quot;:true,&quot;type&quot;:&quot;text&quot;}"/>
          <p:cNvSpPr txBox="1"/>
          <p:nvPr/>
        </p:nvSpPr>
        <p:spPr>
          <a:xfrm rot="0" flipH="0" flipV="0">
            <a:off x="4486275" y="3876675"/>
            <a:ext cx="3209925" cy="5048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050">
                <a:solidFill>
                  <a:srgbClr val="94A3B8"/>
                </a:solidFill>
                <a:latin typeface="Microsoft YaHei"/>
                <a:ea typeface="Microsoft YaHei"/>
              </a:rPr>
              <a:t>一键启动脚本、消融与基准测试脚本、测试图自动出图脚本</a:t>
            </a:r>
            <a:endParaRPr/>
          </a:p>
        </p:txBody>
      </p:sp>
      <p:sp>
        <p:nvSpPr>
          <p:cNvPr id="41" name=""/>
          <p:cNvSpPr/>
          <p:nvPr/>
        </p:nvSpPr>
        <p:spPr>
          <a:xfrm rot="0" flipH="0" flipV="0">
            <a:off x="7981950" y="3438525"/>
            <a:ext cx="3524250" cy="1076325"/>
          </a:xfrm>
          <a:prstGeom prst="roundRect">
            <a:avLst>
              <a:gd name="adj" fmla="val 8850"/>
            </a:avLst>
          </a:prstGeom>
          <a:solidFill>
            <a:srgbClr val="1E293B"/>
          </a:solidFill>
          <a:ln/>
        </p:spPr>
        <p:txBody>
          <a:bodyPr/>
          <a:p>
            <a:pPr/>
            <a:endParaRPr/>
          </a:p>
        </p:txBody>
      </p:sp>
      <p:pic>
        <p:nvPicPr>
          <p:cNvPr id="42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7"/>
              </a:ext>
            </a:extLst>
          </a:blip>
          <a:stretch>
            <a:fillRect/>
          </a:stretch>
        </p:blipFill>
        <p:spPr>
          <a:xfrm rot="0" flipH="0" flipV="0">
            <a:off x="8134350" y="3571875"/>
            <a:ext cx="228600" cy="228600"/>
          </a:xfrm>
          <a:prstGeom prst="rect">
            <a:avLst/>
          </a:prstGeom>
          <a:ln/>
        </p:spPr>
      </p:pic>
      <p:sp>
        <p:nvSpPr>
          <p:cNvPr id="43" name="" descr="{&quot;isTemplate&quot;:true,&quot;type&quot;:&quot;text&quot;}"/>
          <p:cNvSpPr txBox="1"/>
          <p:nvPr/>
        </p:nvSpPr>
        <p:spPr>
          <a:xfrm rot="0" flipH="0" flipV="0">
            <a:off x="8458200" y="3590925"/>
            <a:ext cx="6477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F1F5F9"/>
                </a:solidFill>
                <a:latin typeface="Microsoft YaHei"/>
                <a:ea typeface="Microsoft YaHei"/>
              </a:rPr>
              <a:t>测试资产</a:t>
            </a:r>
            <a:endParaRPr/>
          </a:p>
        </p:txBody>
      </p:sp>
      <p:sp>
        <p:nvSpPr>
          <p:cNvPr id="44" name="" descr="{&quot;isTemplate&quot;:true,&quot;type&quot;:&quot;text&quot;}"/>
          <p:cNvSpPr txBox="1"/>
          <p:nvPr/>
        </p:nvSpPr>
        <p:spPr>
          <a:xfrm rot="0" flipH="0" flipV="0">
            <a:off x="8134350" y="3876675"/>
            <a:ext cx="3219450" cy="5048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en-US" sz="1050">
                <a:solidFill>
                  <a:srgbClr val="94A3B8"/>
                </a:solidFill>
                <a:latin typeface="Microsoft YaHei"/>
                <a:ea typeface="Microsoft YaHei"/>
              </a:rPr>
              <a:t>3 </a:t>
            </a:r>
            <a:r>
              <a:rPr lang="zh-CN" sz="1050">
                <a:solidFill>
                  <a:srgbClr val="94A3B8"/>
                </a:solidFill>
                <a:latin typeface="Microsoft YaHei"/>
                <a:ea typeface="Microsoft YaHei"/>
              </a:rPr>
              <a:t>份含考核点合同</a:t>
            </a:r>
            <a:r>
              <a:rPr lang="en-US" sz="1050">
                <a:solidFill>
                  <a:srgbClr val="94A3B8"/>
                </a:solidFill>
                <a:latin typeface="Microsoft YaHei"/>
                <a:ea typeface="Microsoft YaHei"/>
              </a:rPr>
              <a:t> PDF</a:t>
            </a:r>
            <a:r>
              <a:rPr lang="zh-CN" sz="1050">
                <a:solidFill>
                  <a:srgbClr val="94A3B8"/>
                </a:solidFill>
                <a:latin typeface="Microsoft YaHei"/>
                <a:ea typeface="Microsoft YaHei"/>
              </a:rPr>
              <a:t>，</a:t>
            </a:r>
            <a:r>
              <a:rPr lang="en-US" sz="1050">
                <a:solidFill>
                  <a:srgbClr val="94A3B8"/>
                </a:solidFill>
                <a:latin typeface="Microsoft YaHei"/>
                <a:ea typeface="Microsoft YaHei"/>
              </a:rPr>
              <a:t>7 </a:t>
            </a:r>
            <a:r>
              <a:rPr lang="zh-CN" sz="1050">
                <a:solidFill>
                  <a:srgbClr val="94A3B8"/>
                </a:solidFill>
                <a:latin typeface="Microsoft YaHei"/>
                <a:ea typeface="Microsoft YaHei"/>
              </a:rPr>
              <a:t>个考核点全部定位到页码；</a:t>
            </a:r>
            <a:r>
              <a:rPr lang="en-US" sz="1050">
                <a:solidFill>
                  <a:srgbClr val="94A3B8"/>
                </a:solidFill>
                <a:latin typeface="Microsoft YaHei"/>
                <a:ea typeface="Microsoft YaHei"/>
              </a:rPr>
              <a:t>12 </a:t>
            </a:r>
            <a:r>
              <a:rPr lang="zh-CN" sz="1050">
                <a:solidFill>
                  <a:srgbClr val="94A3B8"/>
                </a:solidFill>
                <a:latin typeface="Microsoft YaHei"/>
                <a:ea typeface="Microsoft YaHei"/>
              </a:rPr>
              <a:t>组溯源回归用例</a:t>
            </a:r>
            <a:endParaRPr/>
          </a:p>
        </p:txBody>
      </p:sp>
      <p:sp>
        <p:nvSpPr>
          <p:cNvPr id="45" name="" descr="{&quot;isTemplate&quot;:true,&quot;type&quot;:&quot;text&quot;}"/>
          <p:cNvSpPr txBox="1"/>
          <p:nvPr/>
        </p:nvSpPr>
        <p:spPr>
          <a:xfrm rot="0" flipH="0" flipV="0">
            <a:off x="685800" y="4648200"/>
            <a:ext cx="10820400" cy="171450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zh-CN" sz="1125">
                <a:solidFill>
                  <a:srgbClr val="94A3B8"/>
                </a:solidFill>
                <a:latin typeface="Microsoft YaHei"/>
                <a:ea typeface="Microsoft YaHei"/>
              </a:rPr>
              <a:t>模块化</a:t>
            </a:r>
            <a:r>
              <a:rPr lang="en-US" sz="1125">
                <a:solidFill>
                  <a:srgbClr val="94A3B8"/>
                </a:solidFill>
                <a:latin typeface="Microsoft YaHei"/>
                <a:ea typeface="Microsoft YaHei"/>
              </a:rPr>
              <a:t> 6 </a:t>
            </a:r>
            <a:r>
              <a:rPr lang="zh-CN" sz="1125">
                <a:solidFill>
                  <a:srgbClr val="94A3B8"/>
                </a:solidFill>
                <a:latin typeface="Microsoft YaHei"/>
                <a:ea typeface="Microsoft YaHei"/>
              </a:rPr>
              <a:t>模块</a:t>
            </a:r>
            <a:r>
              <a:rPr lang="en-US" sz="1125">
                <a:solidFill>
                  <a:srgbClr val="94A3B8"/>
                </a:solidFill>
                <a:latin typeface="Microsoft YaHei"/>
                <a:ea typeface="Microsoft YaHei"/>
              </a:rPr>
              <a:t> + </a:t>
            </a:r>
            <a:r>
              <a:rPr lang="zh-CN" sz="1125">
                <a:solidFill>
                  <a:srgbClr val="94A3B8"/>
                </a:solidFill>
                <a:latin typeface="Microsoft YaHei"/>
                <a:ea typeface="Microsoft YaHei"/>
              </a:rPr>
              <a:t>一键启动</a:t>
            </a:r>
            <a:r>
              <a:rPr lang="en-US" sz="1125">
                <a:solidFill>
                  <a:srgbClr val="94A3B8"/>
                </a:solidFill>
                <a:latin typeface="Microsoft YaHei"/>
                <a:ea typeface="Microsoft YaHei"/>
              </a:rPr>
              <a:t> + </a:t>
            </a:r>
            <a:r>
              <a:rPr lang="zh-CN" sz="1125">
                <a:solidFill>
                  <a:srgbClr val="94A3B8"/>
                </a:solidFill>
                <a:latin typeface="Microsoft YaHei"/>
                <a:ea typeface="Microsoft YaHei"/>
              </a:rPr>
              <a:t>异常兜底：拿到源码即可在本机复现</a:t>
            </a:r>
            <a:endParaRPr/>
          </a:p>
        </p:txBody>
      </p:sp>
      <p:sp>
        <p:nvSpPr>
          <p:cNvPr id="46" name="" descr="{&quot;isTemplate&quot;:true,&quot;type&quot;:&quot;text&quot;}"/>
          <p:cNvSpPr txBox="1"/>
          <p:nvPr/>
        </p:nvSpPr>
        <p:spPr>
          <a:xfrm rot="0" flipH="0" flipV="0">
            <a:off x="685800" y="6457950"/>
            <a:ext cx="17716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94A3B8"/>
                </a:solidFill>
                <a:latin typeface="Microsoft YaHei"/>
                <a:ea typeface="Microsoft YaHei"/>
              </a:rPr>
              <a:t>卷宗</a:t>
            </a:r>
            <a:r>
              <a:rPr lang="en-US" sz="1050">
                <a:solidFill>
                  <a:srgbClr val="94A3B8"/>
                </a:solidFill>
                <a:latin typeface="Microsoft YaHei"/>
                <a:ea typeface="Microsoft YaHei"/>
              </a:rPr>
              <a:t> · Spark-X2.5 </a:t>
            </a:r>
            <a:r>
              <a:rPr lang="zh-CN" sz="1050">
                <a:solidFill>
                  <a:srgbClr val="94A3B8"/>
                </a:solidFill>
                <a:latin typeface="Microsoft YaHei"/>
                <a:ea typeface="Microsoft YaHei"/>
              </a:rPr>
              <a:t>端侧挑战赛</a:t>
            </a:r>
            <a:endParaRPr/>
          </a:p>
        </p:txBody>
      </p:sp>
      <p:sp>
        <p:nvSpPr>
          <p:cNvPr id="47" name="" descr="{&quot;isTemplate&quot;:true,&quot;type&quot;:&quot;text&quot;}"/>
          <p:cNvSpPr txBox="1"/>
          <p:nvPr/>
        </p:nvSpPr>
        <p:spPr>
          <a:xfrm rot="0" flipH="0" flipV="0">
            <a:off x="11049000" y="645795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94A3B8"/>
                </a:solidFill>
                <a:latin typeface="Microsoft YaHei"/>
                <a:ea typeface="Microsoft YaHei"/>
              </a:rPr>
              <a:t>10 / 12</a:t>
            </a:r>
            <a:endParaRPr/>
          </a:p>
        </p:txBody>
      </p:sp>
    </p:spTree>
  </p:cSld>
</p:sld>
</file>

<file path=ppt/slides/slide11.xml><?xml version="1.0" encoding="utf-8"?>
<p:sld xmlns:p="http://schemas.openxmlformats.org/presentationml/2006/main" xmlns:r="http://schemas.openxmlformats.org/officeDocument/2006/relationships" xmlns:a="http://schemas.openxmlformats.org/drawingml/2006/main" xmlns:asvg="http://schemas.microsoft.com/office/drawing/2016/SVG/main" xmlns:mc="http://schemas.openxmlformats.org/markup-compatibility/2006" mc:Ignorable="asvg">
  <p:cSld>
    <p:spTree>
      <p:nvGrpSpPr>
        <p:cNvPr id="4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p>
            <a:pPr/>
            <a:endParaRPr/>
          </a:p>
        </p:txBody>
      </p:sp>
      <p:sp>
        <p:nvSpPr>
          <p:cNvPr id="50" name="" descr="{&quot;isTemplate&quot;:true,&quot;type&quot;:&quot;text&quot;}"/>
          <p:cNvSpPr txBox="1"/>
          <p:nvPr/>
        </p:nvSpPr>
        <p:spPr>
          <a:xfrm rot="0" flipH="0" flipV="0">
            <a:off x="685800" y="381000"/>
            <a:ext cx="12954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F1F5F9"/>
                </a:solidFill>
                <a:latin typeface="Microsoft YaHei"/>
                <a:ea typeface="Microsoft YaHei"/>
              </a:rPr>
              <a:t>团队分工</a:t>
            </a:r>
            <a:endParaRPr/>
          </a:p>
        </p:txBody>
      </p:sp>
      <p:sp>
        <p:nvSpPr>
          <p:cNvPr id="51" name="" descr="{&quot;isTemplate&quot;:true,&quot;type&quot;:&quot;text&quot;}"/>
          <p:cNvSpPr txBox="1"/>
          <p:nvPr/>
        </p:nvSpPr>
        <p:spPr>
          <a:xfrm rot="0" flipH="0" flipV="0">
            <a:off x="10763250" y="495300"/>
            <a:ext cx="7429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spc="225">
                <a:solidFill>
                  <a:srgbClr val="94A3B8"/>
                </a:solidFill>
                <a:latin typeface="Microsoft YaHei"/>
                <a:ea typeface="Microsoft YaHei"/>
              </a:rPr>
              <a:t>08 · </a:t>
            </a:r>
            <a:r>
              <a:rPr lang="zh-CN" sz="1050" spc="225">
                <a:solidFill>
                  <a:srgbClr val="94A3B8"/>
                </a:solidFill>
                <a:latin typeface="Microsoft YaHei"/>
                <a:ea typeface="Microsoft YaHei"/>
              </a:rPr>
              <a:t>团队</a:t>
            </a:r>
            <a:endParaRPr/>
          </a:p>
        </p:txBody>
      </p:sp>
      <p:sp>
        <p:nvSpPr>
          <p:cNvPr id="52" name="" descr="{&quot;isTemplate&quot;:true,&quot;type&quot;:&quot;text&quot;}"/>
          <p:cNvSpPr txBox="1"/>
          <p:nvPr/>
        </p:nvSpPr>
        <p:spPr>
          <a:xfrm rot="0" flipH="0" flipV="0">
            <a:off x="685800" y="1104900"/>
            <a:ext cx="10820400" cy="3143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en-US" sz="1275">
                <a:solidFill>
                  <a:srgbClr val="94A3B8"/>
                </a:solidFill>
                <a:latin typeface="Microsoft YaHei"/>
                <a:ea typeface="Microsoft YaHei"/>
              </a:rPr>
              <a:t>5 </a:t>
            </a:r>
            <a:r>
              <a:rPr lang="zh-CN" sz="1275">
                <a:solidFill>
                  <a:srgbClr val="94A3B8"/>
                </a:solidFill>
                <a:latin typeface="Microsoft YaHei"/>
                <a:ea typeface="Microsoft YaHei"/>
              </a:rPr>
              <a:t>人团队，</a:t>
            </a:r>
            <a:r>
              <a:rPr lang="en-US" sz="1275">
                <a:solidFill>
                  <a:srgbClr val="94A3B8"/>
                </a:solidFill>
                <a:latin typeface="Microsoft YaHei"/>
                <a:ea typeface="Microsoft YaHei"/>
              </a:rPr>
              <a:t>2 </a:t>
            </a:r>
            <a:r>
              <a:rPr lang="zh-CN" sz="1275">
                <a:solidFill>
                  <a:srgbClr val="94A3B8"/>
                </a:solidFill>
                <a:latin typeface="Microsoft YaHei"/>
                <a:ea typeface="Microsoft YaHei"/>
              </a:rPr>
              <a:t>人有代码基础。范围收缩策略：只做</a:t>
            </a:r>
            <a:r>
              <a:rPr lang="en-US" sz="1275">
                <a:solidFill>
                  <a:srgbClr val="94A3B8"/>
                </a:solidFill>
                <a:latin typeface="Microsoft YaHei"/>
                <a:ea typeface="Microsoft YaHei"/>
              </a:rPr>
              <a:t> Windows PC </a:t>
            </a:r>
            <a:r>
              <a:rPr lang="zh-CN" sz="1275">
                <a:solidFill>
                  <a:srgbClr val="94A3B8"/>
                </a:solidFill>
                <a:latin typeface="Microsoft YaHei"/>
                <a:ea typeface="Microsoft YaHei"/>
              </a:rPr>
              <a:t>单端，</a:t>
            </a:r>
            <a:r>
              <a:rPr lang="en-US" sz="1275">
                <a:solidFill>
                  <a:srgbClr val="94A3B8"/>
                </a:solidFill>
                <a:latin typeface="Microsoft YaHei"/>
                <a:ea typeface="Microsoft YaHei"/>
              </a:rPr>
              <a:t>UI </a:t>
            </a:r>
            <a:r>
              <a:rPr lang="zh-CN" sz="1275">
                <a:solidFill>
                  <a:srgbClr val="94A3B8"/>
                </a:solidFill>
                <a:latin typeface="Microsoft YaHei"/>
                <a:ea typeface="Microsoft YaHei"/>
              </a:rPr>
              <a:t>用现成组件，把有限人力押在「三档路由</a:t>
            </a:r>
            <a:r>
              <a:rPr lang="en-US" sz="1275">
                <a:solidFill>
                  <a:srgbClr val="94A3B8"/>
                </a:solidFill>
                <a:latin typeface="Microsoft YaHei"/>
                <a:ea typeface="Microsoft YaHei"/>
              </a:rPr>
              <a:t> + </a:t>
            </a:r>
            <a:r>
              <a:rPr lang="zh-CN" sz="1275">
                <a:solidFill>
                  <a:srgbClr val="94A3B8"/>
                </a:solidFill>
                <a:latin typeface="Microsoft YaHei"/>
                <a:ea typeface="Microsoft YaHei"/>
              </a:rPr>
              <a:t>溯源校验」两条主线上。</a:t>
            </a:r>
            <a:endParaRPr/>
          </a:p>
        </p:txBody>
      </p:sp>
      <p:sp>
        <p:nvSpPr>
          <p:cNvPr id="53" name=""/>
          <p:cNvSpPr/>
          <p:nvPr/>
        </p:nvSpPr>
        <p:spPr>
          <a:xfrm rot="0" flipH="0" flipV="0">
            <a:off x="685800" y="1552575"/>
            <a:ext cx="2057400" cy="4848225"/>
          </a:xfrm>
          <a:prstGeom prst="roundRect">
            <a:avLst>
              <a:gd name="adj" fmla="val 4630"/>
            </a:avLst>
          </a:prstGeom>
          <a:solidFill>
            <a:srgbClr val="1E293B"/>
          </a:solidFill>
          <a:ln/>
        </p:spPr>
        <p:txBody>
          <a:bodyPr/>
          <a:p>
            <a:pPr/>
            <a:endParaRPr/>
          </a:p>
        </p:txBody>
      </p:sp>
      <p:pic>
        <p:nvPicPr>
          <p:cNvPr id="54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838200" y="1704975"/>
            <a:ext cx="209550" cy="209550"/>
          </a:xfrm>
          <a:prstGeom prst="rect">
            <a:avLst/>
          </a:prstGeom>
          <a:ln/>
        </p:spPr>
      </p:pic>
      <p:sp>
        <p:nvSpPr>
          <p:cNvPr id="55" name="" descr="{&quot;isTemplate&quot;:true,&quot;type&quot;:&quot;text&quot;}"/>
          <p:cNvSpPr txBox="1"/>
          <p:nvPr/>
        </p:nvSpPr>
        <p:spPr>
          <a:xfrm rot="0" flipH="0" flipV="0">
            <a:off x="1123950" y="1714500"/>
            <a:ext cx="3238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F1F5F9"/>
                </a:solidFill>
                <a:latin typeface="Microsoft YaHei"/>
                <a:ea typeface="Microsoft YaHei"/>
              </a:rPr>
              <a:t>队长</a:t>
            </a:r>
            <a:endParaRPr/>
          </a:p>
        </p:txBody>
      </p:sp>
      <p:sp>
        <p:nvSpPr>
          <p:cNvPr id="56" name="" descr="{&quot;isTemplate&quot;:true,&quot;type&quot;:&quot;text&quot;}"/>
          <p:cNvSpPr txBox="1"/>
          <p:nvPr/>
        </p:nvSpPr>
        <p:spPr>
          <a:xfrm rot="0" flipH="0" flipV="0">
            <a:off x="838200" y="1952625"/>
            <a:ext cx="17526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3B82F6"/>
                </a:solidFill>
                <a:latin typeface="Microsoft YaHei"/>
                <a:ea typeface="Microsoft YaHei"/>
              </a:rPr>
              <a:t>产品与架构</a:t>
            </a:r>
            <a:endParaRPr/>
          </a:p>
        </p:txBody>
      </p:sp>
      <p:sp>
        <p:nvSpPr>
          <p:cNvPr id="57" name="" descr="{&quot;isTemplate&quot;:true,&quot;type&quot;:&quot;text&quot;}"/>
          <p:cNvSpPr txBox="1"/>
          <p:nvPr/>
        </p:nvSpPr>
        <p:spPr>
          <a:xfrm rot="0" flipH="0" flipV="0">
            <a:off x="838200" y="2209800"/>
            <a:ext cx="1752600" cy="14859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013">
                <a:solidFill>
                  <a:srgbClr val="94A3B8"/>
                </a:solidFill>
                <a:latin typeface="Microsoft YaHei"/>
                <a:ea typeface="Microsoft YaHei"/>
              </a:rPr>
              <a:t>定「离线整卷</a:t>
            </a:r>
            <a:r>
              <a:rPr lang="en-US" sz="1013">
                <a:solidFill>
                  <a:srgbClr val="94A3B8"/>
                </a:solidFill>
                <a:latin typeface="Microsoft YaHei"/>
                <a:ea typeface="Microsoft YaHei"/>
              </a:rPr>
              <a:t> + </a:t>
            </a:r>
            <a:r>
              <a:rPr lang="zh-CN" sz="1013">
                <a:solidFill>
                  <a:srgbClr val="94A3B8"/>
                </a:solidFill>
                <a:latin typeface="Microsoft YaHei"/>
                <a:ea typeface="Microsoft YaHei"/>
              </a:rPr>
              <a:t>逐句回查页码」的主张与范围收缩，拍板三档路由与溯源两条主线；统筹进度与风险，负责整体架构与材料口径，确保每个演示数字都能回溯到实测记录。</a:t>
            </a:r>
            <a:endParaRPr/>
          </a:p>
        </p:txBody>
      </p:sp>
      <p:sp>
        <p:nvSpPr>
          <p:cNvPr id="58" name=""/>
          <p:cNvSpPr/>
          <p:nvPr/>
        </p:nvSpPr>
        <p:spPr>
          <a:xfrm rot="0" flipH="0" flipV="0">
            <a:off x="2876550" y="1552575"/>
            <a:ext cx="2057400" cy="4848225"/>
          </a:xfrm>
          <a:prstGeom prst="roundRect">
            <a:avLst>
              <a:gd name="adj" fmla="val 4630"/>
            </a:avLst>
          </a:prstGeom>
          <a:solidFill>
            <a:srgbClr val="1E293B"/>
          </a:solidFill>
          <a:ln/>
        </p:spPr>
        <p:txBody>
          <a:bodyPr/>
          <a:p>
            <a:pPr/>
            <a:endParaRPr/>
          </a:p>
        </p:txBody>
      </p:sp>
      <p:pic>
        <p:nvPicPr>
          <p:cNvPr id="59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2"/>
              </a:ext>
            </a:extLst>
          </a:blip>
          <a:stretch>
            <a:fillRect/>
          </a:stretch>
        </p:blipFill>
        <p:spPr>
          <a:xfrm rot="0" flipH="0" flipV="0">
            <a:off x="3028950" y="1704975"/>
            <a:ext cx="209550" cy="209550"/>
          </a:xfrm>
          <a:prstGeom prst="rect">
            <a:avLst/>
          </a:prstGeom>
          <a:ln/>
        </p:spPr>
      </p:pic>
      <p:sp>
        <p:nvSpPr>
          <p:cNvPr id="60" name="" descr="{&quot;isTemplate&quot;:true,&quot;type&quot;:&quot;text&quot;}"/>
          <p:cNvSpPr txBox="1"/>
          <p:nvPr/>
        </p:nvSpPr>
        <p:spPr>
          <a:xfrm rot="0" flipH="0" flipV="0">
            <a:off x="3314700" y="1714500"/>
            <a:ext cx="4953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F1F5F9"/>
                </a:solidFill>
                <a:latin typeface="Microsoft YaHei"/>
                <a:ea typeface="Microsoft YaHei"/>
              </a:rPr>
              <a:t>开发</a:t>
            </a:r>
            <a:r>
              <a:rPr lang="en-US" sz="1275" b="1">
                <a:solidFill>
                  <a:srgbClr val="F1F5F9"/>
                </a:solidFill>
                <a:latin typeface="Microsoft YaHei"/>
                <a:ea typeface="Microsoft YaHei"/>
              </a:rPr>
              <a:t> A</a:t>
            </a:r>
            <a:endParaRPr/>
          </a:p>
        </p:txBody>
      </p:sp>
      <p:sp>
        <p:nvSpPr>
          <p:cNvPr id="61" name="" descr="{&quot;isTemplate&quot;:true,&quot;type&quot;:&quot;text&quot;}"/>
          <p:cNvSpPr txBox="1"/>
          <p:nvPr/>
        </p:nvSpPr>
        <p:spPr>
          <a:xfrm rot="0" flipH="0" flipV="0">
            <a:off x="3028950" y="1952625"/>
            <a:ext cx="17526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3B82F6"/>
                </a:solidFill>
                <a:latin typeface="Microsoft YaHei"/>
                <a:ea typeface="Microsoft YaHei"/>
              </a:rPr>
              <a:t>推理与路由</a:t>
            </a:r>
            <a:endParaRPr/>
          </a:p>
        </p:txBody>
      </p:sp>
      <p:sp>
        <p:nvSpPr>
          <p:cNvPr id="62" name="" descr="{&quot;isTemplate&quot;:true,&quot;type&quot;:&quot;text&quot;}"/>
          <p:cNvSpPr txBox="1"/>
          <p:nvPr/>
        </p:nvSpPr>
        <p:spPr>
          <a:xfrm rot="0" flipH="0" flipV="0">
            <a:off x="3028950" y="2209800"/>
            <a:ext cx="1752600" cy="12382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013">
                <a:solidFill>
                  <a:srgbClr val="94A3B8"/>
                </a:solidFill>
                <a:latin typeface="Microsoft YaHei"/>
                <a:ea typeface="Microsoft YaHei"/>
              </a:rPr>
              <a:t>负责</a:t>
            </a:r>
            <a:r>
              <a:rPr lang="en-US" sz="1013">
                <a:solidFill>
                  <a:srgbClr val="94A3B8"/>
                </a:solidFill>
                <a:latin typeface="Microsoft YaHei"/>
                <a:ea typeface="Microsoft YaHei"/>
              </a:rPr>
              <a:t> llama.cpp </a:t>
            </a:r>
            <a:r>
              <a:rPr lang="zh-CN" sz="1013">
                <a:solidFill>
                  <a:srgbClr val="94A3B8"/>
                </a:solidFill>
                <a:latin typeface="Microsoft YaHei"/>
                <a:ea typeface="Microsoft YaHei"/>
              </a:rPr>
              <a:t>量化部署与双模型同驻调优：全层卸载、</a:t>
            </a:r>
            <a:r>
              <a:rPr lang="en-US" sz="1013">
                <a:solidFill>
                  <a:srgbClr val="94A3B8"/>
                </a:solidFill>
                <a:latin typeface="Microsoft YaHei"/>
                <a:ea typeface="Microsoft YaHei"/>
              </a:rPr>
              <a:t>KV </a:t>
            </a:r>
            <a:r>
              <a:rPr lang="zh-CN" sz="1013">
                <a:solidFill>
                  <a:srgbClr val="94A3B8"/>
                </a:solidFill>
                <a:latin typeface="Microsoft YaHei"/>
                <a:ea typeface="Microsoft YaHei"/>
              </a:rPr>
              <a:t>前缀复用、显存预算；实现三档路由与智能降级，产出基准测试脚本与全部实测数据。</a:t>
            </a:r>
            <a:endParaRPr/>
          </a:p>
        </p:txBody>
      </p:sp>
      <p:sp>
        <p:nvSpPr>
          <p:cNvPr id="63" name=""/>
          <p:cNvSpPr/>
          <p:nvPr/>
        </p:nvSpPr>
        <p:spPr>
          <a:xfrm rot="0" flipH="0" flipV="0">
            <a:off x="5067300" y="1552575"/>
            <a:ext cx="2057400" cy="4848225"/>
          </a:xfrm>
          <a:prstGeom prst="roundRect">
            <a:avLst>
              <a:gd name="adj" fmla="val 4630"/>
            </a:avLst>
          </a:prstGeom>
          <a:solidFill>
            <a:srgbClr val="1E293B"/>
          </a:solidFill>
          <a:ln/>
        </p:spPr>
        <p:txBody>
          <a:bodyPr/>
          <a:p>
            <a:pPr/>
            <a:endParaRPr/>
          </a:p>
        </p:txBody>
      </p:sp>
      <p:pic>
        <p:nvPicPr>
          <p:cNvPr id="64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3"/>
              </a:ext>
            </a:extLst>
          </a:blip>
          <a:stretch>
            <a:fillRect/>
          </a:stretch>
        </p:blipFill>
        <p:spPr>
          <a:xfrm rot="0" flipH="0" flipV="0">
            <a:off x="5219700" y="1704975"/>
            <a:ext cx="209550" cy="209550"/>
          </a:xfrm>
          <a:prstGeom prst="rect">
            <a:avLst/>
          </a:prstGeom>
          <a:ln/>
        </p:spPr>
      </p:pic>
      <p:sp>
        <p:nvSpPr>
          <p:cNvPr id="65" name="" descr="{&quot;isTemplate&quot;:true,&quot;type&quot;:&quot;text&quot;}"/>
          <p:cNvSpPr txBox="1"/>
          <p:nvPr/>
        </p:nvSpPr>
        <p:spPr>
          <a:xfrm rot="0" flipH="0" flipV="0">
            <a:off x="5505450" y="1714500"/>
            <a:ext cx="48577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F1F5F9"/>
                </a:solidFill>
                <a:latin typeface="Microsoft YaHei"/>
                <a:ea typeface="Microsoft YaHei"/>
              </a:rPr>
              <a:t>开发</a:t>
            </a:r>
            <a:r>
              <a:rPr lang="en-US" sz="1275" b="1">
                <a:solidFill>
                  <a:srgbClr val="F1F5F9"/>
                </a:solidFill>
                <a:latin typeface="Microsoft YaHei"/>
                <a:ea typeface="Microsoft YaHei"/>
              </a:rPr>
              <a:t> B</a:t>
            </a:r>
            <a:endParaRPr/>
          </a:p>
        </p:txBody>
      </p:sp>
      <p:sp>
        <p:nvSpPr>
          <p:cNvPr id="66" name="" descr="{&quot;isTemplate&quot;:true,&quot;type&quot;:&quot;text&quot;}"/>
          <p:cNvSpPr txBox="1"/>
          <p:nvPr/>
        </p:nvSpPr>
        <p:spPr>
          <a:xfrm rot="0" flipH="0" flipV="0">
            <a:off x="5219700" y="1952625"/>
            <a:ext cx="17526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3B82F6"/>
                </a:solidFill>
                <a:latin typeface="Microsoft YaHei"/>
                <a:ea typeface="Microsoft YaHei"/>
              </a:rPr>
              <a:t>溯源与工作台</a:t>
            </a:r>
            <a:endParaRPr/>
          </a:p>
        </p:txBody>
      </p:sp>
      <p:sp>
        <p:nvSpPr>
          <p:cNvPr id="67" name="" descr="{&quot;isTemplate&quot;:true,&quot;type&quot;:&quot;text&quot;}"/>
          <p:cNvSpPr txBox="1"/>
          <p:nvPr/>
        </p:nvSpPr>
        <p:spPr>
          <a:xfrm rot="0" flipH="0" flipV="0">
            <a:off x="5219700" y="2209800"/>
            <a:ext cx="1752600" cy="12382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013">
                <a:solidFill>
                  <a:srgbClr val="94A3B8"/>
                </a:solidFill>
                <a:latin typeface="Microsoft YaHei"/>
                <a:ea typeface="Microsoft YaHei"/>
              </a:rPr>
              <a:t>实现流式输出与</a:t>
            </a:r>
            <a:r>
              <a:rPr lang="en-US" sz="1013">
                <a:solidFill>
                  <a:srgbClr val="94A3B8"/>
                </a:solidFill>
                <a:latin typeface="Microsoft YaHei"/>
                <a:ea typeface="Microsoft YaHei"/>
              </a:rPr>
              <a:t> Gradio </a:t>
            </a:r>
            <a:r>
              <a:rPr lang="zh-CN" sz="1013">
                <a:solidFill>
                  <a:srgbClr val="94A3B8"/>
                </a:solidFill>
                <a:latin typeface="Microsoft YaHei"/>
                <a:ea typeface="Microsoft YaHei"/>
              </a:rPr>
              <a:t>工作台：思考折叠、页码标注、分级提示；负责</a:t>
            </a:r>
            <a:r>
              <a:rPr lang="en-US" sz="1013">
                <a:solidFill>
                  <a:srgbClr val="94A3B8"/>
                </a:solidFill>
                <a:latin typeface="Microsoft YaHei"/>
                <a:ea typeface="Microsoft YaHei"/>
              </a:rPr>
              <a:t> 8-gram </a:t>
            </a:r>
            <a:r>
              <a:rPr lang="zh-CN" sz="1013">
                <a:solidFill>
                  <a:srgbClr val="94A3B8"/>
                </a:solidFill>
                <a:latin typeface="Microsoft YaHei"/>
                <a:ea typeface="Microsoft YaHei"/>
              </a:rPr>
              <a:t>溯源校验、页码定位与标题前缀剥离优化，维护溯源回归用例。</a:t>
            </a:r>
            <a:endParaRPr/>
          </a:p>
        </p:txBody>
      </p:sp>
      <p:sp>
        <p:nvSpPr>
          <p:cNvPr id="68" name=""/>
          <p:cNvSpPr/>
          <p:nvPr/>
        </p:nvSpPr>
        <p:spPr>
          <a:xfrm rot="0" flipH="0" flipV="0">
            <a:off x="7258050" y="1552575"/>
            <a:ext cx="2057400" cy="4848225"/>
          </a:xfrm>
          <a:prstGeom prst="roundRect">
            <a:avLst>
              <a:gd name="adj" fmla="val 4630"/>
            </a:avLst>
          </a:prstGeom>
          <a:solidFill>
            <a:srgbClr val="1E293B"/>
          </a:solidFill>
          <a:ln/>
        </p:spPr>
        <p:txBody>
          <a:bodyPr/>
          <a:p>
            <a:pPr/>
            <a:endParaRPr/>
          </a:p>
        </p:txBody>
      </p:sp>
      <p:pic>
        <p:nvPicPr>
          <p:cNvPr id="69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4"/>
              </a:ext>
            </a:extLst>
          </a:blip>
          <a:stretch>
            <a:fillRect/>
          </a:stretch>
        </p:blipFill>
        <p:spPr>
          <a:xfrm rot="0" flipH="0" flipV="0">
            <a:off x="7410450" y="1704975"/>
            <a:ext cx="209550" cy="209550"/>
          </a:xfrm>
          <a:prstGeom prst="rect">
            <a:avLst/>
          </a:prstGeom>
          <a:ln/>
        </p:spPr>
      </p:pic>
      <p:sp>
        <p:nvSpPr>
          <p:cNvPr id="70" name="" descr="{&quot;isTemplate&quot;:true,&quot;type&quot;:&quot;text&quot;}"/>
          <p:cNvSpPr txBox="1"/>
          <p:nvPr/>
        </p:nvSpPr>
        <p:spPr>
          <a:xfrm rot="0" flipH="0" flipV="0">
            <a:off x="7696200" y="1714500"/>
            <a:ext cx="48577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F1F5F9"/>
                </a:solidFill>
                <a:latin typeface="Microsoft YaHei"/>
                <a:ea typeface="Microsoft YaHei"/>
              </a:rPr>
              <a:t>成员</a:t>
            </a:r>
            <a:r>
              <a:rPr lang="en-US" sz="1275" b="1">
                <a:solidFill>
                  <a:srgbClr val="F1F5F9"/>
                </a:solidFill>
                <a:latin typeface="Microsoft YaHei"/>
                <a:ea typeface="Microsoft YaHei"/>
              </a:rPr>
              <a:t> C</a:t>
            </a:r>
            <a:endParaRPr/>
          </a:p>
        </p:txBody>
      </p:sp>
      <p:sp>
        <p:nvSpPr>
          <p:cNvPr id="71" name="" descr="{&quot;isTemplate&quot;:true,&quot;type&quot;:&quot;text&quot;}"/>
          <p:cNvSpPr txBox="1"/>
          <p:nvPr/>
        </p:nvSpPr>
        <p:spPr>
          <a:xfrm rot="0" flipH="0" flipV="0">
            <a:off x="7410450" y="1952625"/>
            <a:ext cx="17526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06B6D4"/>
                </a:solidFill>
                <a:latin typeface="Microsoft YaHei"/>
                <a:ea typeface="Microsoft YaHei"/>
              </a:rPr>
              <a:t>测试与语料</a:t>
            </a:r>
            <a:endParaRPr/>
          </a:p>
        </p:txBody>
      </p:sp>
      <p:sp>
        <p:nvSpPr>
          <p:cNvPr id="72" name="" descr="{&quot;isTemplate&quot;:true,&quot;type&quot;:&quot;text&quot;}"/>
          <p:cNvSpPr txBox="1"/>
          <p:nvPr/>
        </p:nvSpPr>
        <p:spPr>
          <a:xfrm rot="0" flipH="0" flipV="0">
            <a:off x="7410450" y="2209800"/>
            <a:ext cx="1752600" cy="12382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013">
                <a:solidFill>
                  <a:srgbClr val="94A3B8"/>
                </a:solidFill>
                <a:latin typeface="Microsoft YaHei"/>
                <a:ea typeface="Microsoft YaHei"/>
              </a:rPr>
              <a:t>构造含考核点的合同测试集，覆盖试用期超限、工资矛盾、解约冲突、质保期不一致等场景；执行端到端回归，逐项记录考核点的页码定位结果。</a:t>
            </a:r>
            <a:endParaRPr/>
          </a:p>
        </p:txBody>
      </p:sp>
      <p:sp>
        <p:nvSpPr>
          <p:cNvPr id="73" name=""/>
          <p:cNvSpPr/>
          <p:nvPr/>
        </p:nvSpPr>
        <p:spPr>
          <a:xfrm rot="0" flipH="0" flipV="0">
            <a:off x="9448800" y="1552575"/>
            <a:ext cx="2057400" cy="4848225"/>
          </a:xfrm>
          <a:prstGeom prst="roundRect">
            <a:avLst>
              <a:gd name="adj" fmla="val 4630"/>
            </a:avLst>
          </a:prstGeom>
          <a:solidFill>
            <a:srgbClr val="1E293B"/>
          </a:solidFill>
          <a:ln/>
        </p:spPr>
        <p:txBody>
          <a:bodyPr/>
          <a:p>
            <a:pPr/>
            <a:endParaRPr/>
          </a:p>
        </p:txBody>
      </p:sp>
      <p:pic>
        <p:nvPicPr>
          <p:cNvPr id="74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5"/>
              </a:ext>
            </a:extLst>
          </a:blip>
          <a:stretch>
            <a:fillRect/>
          </a:stretch>
        </p:blipFill>
        <p:spPr>
          <a:xfrm rot="0" flipH="0" flipV="0">
            <a:off x="9601200" y="1704975"/>
            <a:ext cx="209550" cy="209550"/>
          </a:xfrm>
          <a:prstGeom prst="rect">
            <a:avLst/>
          </a:prstGeom>
          <a:ln/>
        </p:spPr>
      </p:pic>
      <p:sp>
        <p:nvSpPr>
          <p:cNvPr id="75" name="" descr="{&quot;isTemplate&quot;:true,&quot;type&quot;:&quot;text&quot;}"/>
          <p:cNvSpPr txBox="1"/>
          <p:nvPr/>
        </p:nvSpPr>
        <p:spPr>
          <a:xfrm rot="0" flipH="0" flipV="0">
            <a:off x="9886950" y="1714500"/>
            <a:ext cx="46672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F1F5F9"/>
                </a:solidFill>
                <a:latin typeface="Microsoft YaHei"/>
                <a:ea typeface="Microsoft YaHei"/>
              </a:rPr>
              <a:t>成员</a:t>
            </a:r>
            <a:r>
              <a:rPr lang="en-US" sz="1275" b="1">
                <a:solidFill>
                  <a:srgbClr val="F1F5F9"/>
                </a:solidFill>
                <a:latin typeface="Microsoft YaHei"/>
                <a:ea typeface="Microsoft YaHei"/>
              </a:rPr>
              <a:t> E</a:t>
            </a:r>
            <a:endParaRPr/>
          </a:p>
        </p:txBody>
      </p:sp>
      <p:sp>
        <p:nvSpPr>
          <p:cNvPr id="76" name="" descr="{&quot;isTemplate&quot;:true,&quot;type&quot;:&quot;text&quot;}"/>
          <p:cNvSpPr txBox="1"/>
          <p:nvPr/>
        </p:nvSpPr>
        <p:spPr>
          <a:xfrm rot="0" flipH="0" flipV="0">
            <a:off x="9601200" y="1952625"/>
            <a:ext cx="17526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06B6D4"/>
                </a:solidFill>
                <a:latin typeface="Microsoft YaHei"/>
                <a:ea typeface="Microsoft YaHei"/>
              </a:rPr>
              <a:t>调研与验证</a:t>
            </a:r>
            <a:endParaRPr/>
          </a:p>
        </p:txBody>
      </p:sp>
      <p:sp>
        <p:nvSpPr>
          <p:cNvPr id="77" name="" descr="{&quot;isTemplate&quot;:true,&quot;type&quot;:&quot;text&quot;}"/>
          <p:cNvSpPr txBox="1"/>
          <p:nvPr/>
        </p:nvSpPr>
        <p:spPr>
          <a:xfrm rot="0" flipH="0" flipV="0">
            <a:off x="9601200" y="2209800"/>
            <a:ext cx="1752600" cy="12382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013">
                <a:solidFill>
                  <a:srgbClr val="94A3B8"/>
                </a:solidFill>
                <a:latin typeface="Microsoft YaHei"/>
                <a:ea typeface="Microsoft YaHei"/>
              </a:rPr>
              <a:t>整理目标用户访谈提纲与痛点清单，核对痛点与产品特性的对应关系；参与演示评审，从非技术视角提出可读性与表达改进。</a:t>
            </a:r>
            <a:endParaRPr/>
          </a:p>
        </p:txBody>
      </p:sp>
      <p:sp>
        <p:nvSpPr>
          <p:cNvPr id="78" name="" descr="{&quot;isTemplate&quot;:true,&quot;type&quot;:&quot;text&quot;}"/>
          <p:cNvSpPr txBox="1"/>
          <p:nvPr/>
        </p:nvSpPr>
        <p:spPr>
          <a:xfrm rot="0" flipH="0" flipV="0">
            <a:off x="685800" y="6457950"/>
            <a:ext cx="17716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94A3B8"/>
                </a:solidFill>
                <a:latin typeface="Microsoft YaHei"/>
                <a:ea typeface="Microsoft YaHei"/>
              </a:rPr>
              <a:t>卷宗</a:t>
            </a:r>
            <a:r>
              <a:rPr lang="en-US" sz="1050">
                <a:solidFill>
                  <a:srgbClr val="94A3B8"/>
                </a:solidFill>
                <a:latin typeface="Microsoft YaHei"/>
                <a:ea typeface="Microsoft YaHei"/>
              </a:rPr>
              <a:t> · Spark-X2.5 </a:t>
            </a:r>
            <a:r>
              <a:rPr lang="zh-CN" sz="1050">
                <a:solidFill>
                  <a:srgbClr val="94A3B8"/>
                </a:solidFill>
                <a:latin typeface="Microsoft YaHei"/>
                <a:ea typeface="Microsoft YaHei"/>
              </a:rPr>
              <a:t>端侧挑战赛</a:t>
            </a:r>
            <a:endParaRPr/>
          </a:p>
        </p:txBody>
      </p:sp>
      <p:sp>
        <p:nvSpPr>
          <p:cNvPr id="79" name="" descr="{&quot;isTemplate&quot;:true,&quot;type&quot;:&quot;text&quot;}"/>
          <p:cNvSpPr txBox="1"/>
          <p:nvPr/>
        </p:nvSpPr>
        <p:spPr>
          <a:xfrm rot="0" flipH="0" flipV="0">
            <a:off x="11049000" y="645795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94A3B8"/>
                </a:solidFill>
                <a:latin typeface="Microsoft YaHei"/>
                <a:ea typeface="Microsoft YaHei"/>
              </a:rPr>
              <a:t>11 / 12</a:t>
            </a:r>
            <a:endParaRPr/>
          </a:p>
        </p:txBody>
      </p:sp>
    </p:spTree>
  </p:cSld>
</p:sld>
</file>

<file path=ppt/slides/slide12.xml><?xml version="1.0" encoding="utf-8"?>
<p:sld xmlns:p="http://schemas.openxmlformats.org/presentationml/2006/main" xmlns:r="http://schemas.openxmlformats.org/officeDocument/2006/relationships" xmlns:a="http://schemas.openxmlformats.org/drawingml/2006/main" xmlns:asvg="http://schemas.microsoft.com/office/drawing/2016/SVG/main" xmlns:mc="http://schemas.openxmlformats.org/markup-compatibility/2006" mc:Ignorable="asvg">
  <p:cSld>
    <p:spTree>
      <p:nvGrpSpPr>
        <p:cNvPr id="80" name="" descr="&lt;Slide style={{ width: 1280, height: 720, background: '#0F172A', padding: '20px 72px', display: 'flex', flexDirection: 'column' }}&gt;&#10;  &lt;Box style={{ height: 80, flexDirection: 'row', alignItems: 'center', justifyContent: 'space-between' }}&gt;&#10;    &lt;Text style={{ fontSize: 34, fontWeight: 'bold', color: '#F1F5F9' }}&gt;规划与原创性声明&lt;/Text&gt;&#10;    &lt;Text style={{ fontSize: 14, color: '#94A3B8', letterSpacing: 3 }}&gt;09 · 规划与声明&lt;/Text&gt;&#10;  &lt;/Box&gt;&#10;  &lt;Box style={{ flex: 1, flexDirection: 'column', gap: 18, marginTop: 16 }}&gt;&#10;    &lt;svg width={1136} height={150} viewBox='0 0 1136 150' font-family='sans-serif'&gt;&#10;      &lt;line x1='60' y1='80' x2='1080' y2='80' stroke='#334155' stroke-width='2' /&gt;&#10;      &lt;circle cx='120' cy='80' r='9' fill='#06B6D4' /&gt;&#10;      &lt;text x='120' y='52' fill='#F1F5F9' font-size='16' font-weight='bold' text-anchor='middle'&gt;核心闭环已打通&lt;/text&gt;&#10;      &lt;text x='120' y='112' fill='#94A3B8' font-size='13' text-anchor='middle'&gt;9 月中：部署 · 三档 · 溯源 · 实测&lt;/text&gt;&#10;      &lt;circle cx='420' cy='80' r='9' fill='#3B82F6' /&gt;&#10;      &lt;circle cx='420' cy='80' r='15' fill='none' stroke='#3B82F6' stroke-width='1.5' opacity='0.5' /&gt;&#10;      &lt;text x='420' y='52' fill='#3B82F6' font-size='16' font-weight='bold' text-anchor='middle'&gt;初赛材料提交&lt;/text&gt;&#10;      &lt;text x='420' y='112' fill='#94A3B8' font-size='13' text-anchor='middle'&gt;10 月上旬：PPT · 演示视频 · 打包&lt;/text&gt;&#10;      &lt;circle cx='720' cy='80' r='9' fill='#94A3B8' /&gt;&#10;      &lt;text x='720' y='52' fill='#F1F5F9' font-size='16' font-weight='bold' text-anchor='middle'&gt;初赛评审&lt;/text&gt;&#10;      &lt;text x='720' y='112' fill='#94A3B8' font-size='13' text-anchor='middle'&gt;10-11 截止 · 前 10 名晋级&lt;/text&gt;&#10;      &lt;circle cx='1020' cy='80' r='9' fill='#94A3B8' /&gt;&#10;      &lt;text x='1020' y='52' fill='#F1F5F9' font-size='16' font-weight='bold' text-anchor='middle'&gt;决赛&lt;/text&gt;&#10;      &lt;text x='1020' y='112' fill='#94A3B8' font-size='13' text-anchor='middle'&gt;11 月 · 现场答辩&lt;/text&gt;&#10;    &lt;/svg&gt;&#10;    &lt;Box style={{ flex: 1, flexDirection: 'row', gap: 24 }}&gt;&#10;      &lt;Box style={{ flex: 1, background: '#1E293B', borderRadius: 12, paddingTop: 20, paddingBottom: 20, paddingLeft: 22, paddingRight: 22 }}&gt;&#10;        &lt;Text style={{ fontSize: 20, fontWeight: 'bold', color: '#3B82F6' }}&gt;决赛规划&lt;/Text&gt;&#10;        &lt;Box style={{ marginTop: 14, gap: 12 }}&gt;&#10;          &lt;Box style={{ flexDirection: 'row', gap: 10, alignItems: 'center' }}&gt;&#10;            &lt;Box style={{ width: 7, height: 7, borderRadius: 4, background: '#3B82F6' }} /&gt;&#10;            &lt;Text style={{ fontSize: 16, color: '#F1F5F9' }}&gt;混合检索升级：向量 + BM25，超长卷召回更准&lt;/Text&gt;&#10;          &lt;/Box&gt;&#10;          &lt;Box style={{ flexDirection: 'row', gap: 10, alignItems: 'center' }}&gt;&#10;            &lt;Box style={{ width: 7, height: 7, borderRadius: 4, background: '#3B82F6' }} /&gt;&#10;            &lt;Text style={{ fontSize: 16, color: '#F1F5F9' }}&gt;智能路由调优：按题自动选档的阈值学习&lt;/Text&gt;&#10;          &lt;/Box&gt;&#10;          &lt;Box style={{ flexDirection: 'row', gap: 10, alignItems: 'center' }}&gt;&#10;            &lt;Box style={{ width: 7, height: 7, borderRadius: 4, background: '#3B82F6' }} /&gt;&#10;            &lt;Text style={{ fontSize: 16, color: '#F1F5F9' }}&gt;超长卷宗分级装载：摘要 + 原文两级上下文&lt;/Text&gt;&#10;          &lt;/Box&gt;&#10;          &lt;Box style={{ flexDirection: 'row', gap: 10, alignItems: 'center' }}&gt;&#10;            &lt;Box style={{ width: 7, height: 7, borderRadius: 4, background: '#94A3B8' }} /&gt;&#10;            &lt;Text style={{ fontSize: 16, color: '#94A3B8' }}&gt;扫描件 OCR：列为探索项，视评审反馈决定&lt;/Text&gt;&#10;          &lt;/Box&gt;&#10;        &lt;/Box&gt;&#10;      &lt;/Box&gt;&#10;      &lt;Box style={{ flex: 1, background: '#1E293B', borderRadius: 12, paddingTop: 20, paddingBottom: 20, paddingLeft: 22, paddingRight: 22 }}&gt;&#10;        &lt;Text style={{ fontSize: 20, fontWeight: 'bold', color: '#06B6D4' }}&gt;原创性声明&lt;/Text&gt;&#10;        &lt;Text style={{ fontSize: 15, color: '#94A3B8', marginTop: 14, lineHeight: 1.75 }}&gt;本作品基于讯飞官方开源 Spark-X2.5 模型开发，应用代码为团队原创。llama.cpp（推理）、Gradio（界面）、fpdf2（测试集生成）、matplotlib（图表）等第三方开源组件均如实标注。访谈画像为 AI 模拟并已标注；全部性能数据来自真机实测，可在仓库复查。&lt;/Text&gt;&#10;      &lt;/Box&gt;&#10;    &lt;/Box&gt;&#10;    &lt;Text style={{ fontSize: 16, color: '#F1F5F9', textAlign: 'center', marginBottom: 4 }}&gt;卷宗——让每一句回答都能回查到页码。谢谢评审！&lt;/Text&gt;&#10;  &lt;/Box&gt;&#10;  &lt;Box style={{ height: 28, flexDirection: 'row', alignItems: 'center', justifyContent: 'space-between' }}&gt;&#10;    &lt;Text style={{ fontSize: 14, color: '#94A3B8' }}&gt;卷宗 · Spark-X2.5 端侧挑战赛&lt;/Text&gt;&#10;    &lt;Text style={{ fontSize: 14, color: '#94A3B8' }}&gt;12 / 12&lt;/Text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p/>
        </p:txBody>
      </p:sp>
      <p:sp>
        <p:nvSpPr>
          <p:cNvPr id="82" name="" descr="{&quot;isTemplate&quot;:true,&quot;type&quot;:&quot;text&quot;}"/>
          <p:cNvSpPr txBox="1"/>
          <p:nvPr/>
        </p:nvSpPr>
        <p:spPr>
          <a:xfrm rot="0" flipH="0" flipV="0">
            <a:off x="685800" y="381000"/>
            <a:ext cx="25908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F1F5F9"/>
                </a:solidFill>
                <a:latin typeface="Microsoft YaHei"/>
                <a:ea typeface="Microsoft YaHei"/>
              </a:rPr>
              <a:t>规划与原创性声明</a:t>
            </a:r>
            <a:endParaRPr/>
          </a:p>
        </p:txBody>
      </p:sp>
      <p:sp>
        <p:nvSpPr>
          <p:cNvPr id="83" name="" descr="{&quot;isTemplate&quot;:true,&quot;type&quot;:&quot;text&quot;}"/>
          <p:cNvSpPr txBox="1"/>
          <p:nvPr/>
        </p:nvSpPr>
        <p:spPr>
          <a:xfrm rot="0" flipH="0" flipV="0">
            <a:off x="10277475" y="495300"/>
            <a:ext cx="12287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spc="225">
                <a:solidFill>
                  <a:srgbClr val="94A3B8"/>
                </a:solidFill>
                <a:latin typeface="Microsoft YaHei"/>
                <a:ea typeface="Microsoft YaHei"/>
              </a:rPr>
              <a:t>09 · </a:t>
            </a:r>
            <a:r>
              <a:rPr lang="zh-CN" sz="1050" spc="225">
                <a:solidFill>
                  <a:srgbClr val="94A3B8"/>
                </a:solidFill>
                <a:latin typeface="Microsoft YaHei"/>
                <a:ea typeface="Microsoft YaHei"/>
              </a:rPr>
              <a:t>规划与声明</a:t>
            </a:r>
            <a:endParaRPr/>
          </a:p>
        </p:txBody>
      </p:sp>
      <p:pic>
        <p:nvPicPr>
          <p:cNvPr id="84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685800" y="1104900"/>
            <a:ext cx="10820400" cy="1428750"/>
          </a:xfrm>
          <a:prstGeom prst="rect">
            <a:avLst/>
          </a:prstGeom>
          <a:ln/>
        </p:spPr>
      </p:pic>
      <p:sp>
        <p:nvSpPr>
          <p:cNvPr id="85" name=""/>
          <p:cNvSpPr/>
          <p:nvPr/>
        </p:nvSpPr>
        <p:spPr>
          <a:xfrm rot="0" flipH="0" flipV="0">
            <a:off x="685800" y="2705100"/>
            <a:ext cx="5295900" cy="3295650"/>
          </a:xfrm>
          <a:prstGeom prst="roundRect">
            <a:avLst>
              <a:gd name="adj" fmla="val 3468"/>
            </a:avLst>
          </a:prstGeom>
          <a:solidFill>
            <a:srgbClr val="1E293B"/>
          </a:solidFill>
          <a:ln/>
        </p:spPr>
        <p:txBody>
          <a:bodyPr/>
          <a:p/>
        </p:txBody>
      </p:sp>
      <p:sp>
        <p:nvSpPr>
          <p:cNvPr id="86" name="" descr="{&quot;isTemplate&quot;:true,&quot;type&quot;:&quot;text&quot;}"/>
          <p:cNvSpPr txBox="1"/>
          <p:nvPr/>
        </p:nvSpPr>
        <p:spPr>
          <a:xfrm rot="0" flipH="0" flipV="0">
            <a:off x="895350" y="2895600"/>
            <a:ext cx="48768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3B82F6"/>
                </a:solidFill>
                <a:latin typeface="Microsoft YaHei"/>
                <a:ea typeface="Microsoft YaHei"/>
              </a:rPr>
              <a:t>决赛规划</a:t>
            </a:r>
            <a:endParaRPr/>
          </a:p>
        </p:txBody>
      </p:sp>
      <p:sp>
        <p:nvSpPr>
          <p:cNvPr id="87" name=""/>
          <p:cNvSpPr/>
          <p:nvPr/>
        </p:nvSpPr>
        <p:spPr>
          <a:xfrm rot="0" flipH="0" flipV="0">
            <a:off x="895350" y="3324225"/>
            <a:ext cx="66675" cy="66675"/>
          </a:xfrm>
          <a:prstGeom prst="roundRect">
            <a:avLst>
              <a:gd name="adj" fmla="val 57143"/>
            </a:avLst>
          </a:prstGeom>
          <a:solidFill>
            <a:srgbClr val="3B82F6"/>
          </a:solidFill>
          <a:ln/>
        </p:spPr>
        <p:txBody>
          <a:bodyPr/>
          <a:p/>
        </p:txBody>
      </p:sp>
      <p:sp>
        <p:nvSpPr>
          <p:cNvPr id="88" name="" descr="{&quot;isTemplate&quot;:true,&quot;type&quot;:&quot;text&quot;}"/>
          <p:cNvSpPr txBox="1"/>
          <p:nvPr/>
        </p:nvSpPr>
        <p:spPr>
          <a:xfrm rot="0" flipH="0" flipV="0">
            <a:off x="1057275" y="3257550"/>
            <a:ext cx="32194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F1F5F9"/>
                </a:solidFill>
                <a:latin typeface="Microsoft YaHei"/>
                <a:ea typeface="Microsoft YaHei"/>
              </a:rPr>
              <a:t>混合检索升级：向量</a:t>
            </a:r>
            <a:r>
              <a:rPr lang="en-US" sz="1200">
                <a:solidFill>
                  <a:srgbClr val="F1F5F9"/>
                </a:solidFill>
                <a:latin typeface="Microsoft YaHei"/>
                <a:ea typeface="Microsoft YaHei"/>
              </a:rPr>
              <a:t> + BM25</a:t>
            </a:r>
            <a:r>
              <a:rPr lang="zh-CN" sz="1200">
                <a:solidFill>
                  <a:srgbClr val="F1F5F9"/>
                </a:solidFill>
                <a:latin typeface="Microsoft YaHei"/>
                <a:ea typeface="Microsoft YaHei"/>
              </a:rPr>
              <a:t>，超长卷召回更准</a:t>
            </a:r>
            <a:endParaRPr/>
          </a:p>
        </p:txBody>
      </p:sp>
      <p:sp>
        <p:nvSpPr>
          <p:cNvPr id="89" name=""/>
          <p:cNvSpPr/>
          <p:nvPr/>
        </p:nvSpPr>
        <p:spPr>
          <a:xfrm rot="0" flipH="0" flipV="0">
            <a:off x="895350" y="3629025"/>
            <a:ext cx="66675" cy="66675"/>
          </a:xfrm>
          <a:prstGeom prst="roundRect">
            <a:avLst>
              <a:gd name="adj" fmla="val 57143"/>
            </a:avLst>
          </a:prstGeom>
          <a:solidFill>
            <a:srgbClr val="3B82F6"/>
          </a:solidFill>
          <a:ln/>
        </p:spPr>
        <p:txBody>
          <a:bodyPr/>
          <a:p/>
        </p:txBody>
      </p:sp>
      <p:sp>
        <p:nvSpPr>
          <p:cNvPr id="90" name="" descr="{&quot;isTemplate&quot;:true,&quot;type&quot;:&quot;text&quot;}"/>
          <p:cNvSpPr txBox="1"/>
          <p:nvPr/>
        </p:nvSpPr>
        <p:spPr>
          <a:xfrm rot="0" flipH="0" flipV="0">
            <a:off x="1057275" y="3562350"/>
            <a:ext cx="27432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F1F5F9"/>
                </a:solidFill>
                <a:latin typeface="Microsoft YaHei"/>
                <a:ea typeface="Microsoft YaHei"/>
              </a:rPr>
              <a:t>智能路由调优：按题自动选档的阈值学习</a:t>
            </a:r>
            <a:endParaRPr/>
          </a:p>
        </p:txBody>
      </p:sp>
      <p:sp>
        <p:nvSpPr>
          <p:cNvPr id="91" name=""/>
          <p:cNvSpPr/>
          <p:nvPr/>
        </p:nvSpPr>
        <p:spPr>
          <a:xfrm rot="0" flipH="0" flipV="0">
            <a:off x="895350" y="3933825"/>
            <a:ext cx="66675" cy="66675"/>
          </a:xfrm>
          <a:prstGeom prst="roundRect">
            <a:avLst>
              <a:gd name="adj" fmla="val 57143"/>
            </a:avLst>
          </a:prstGeom>
          <a:solidFill>
            <a:srgbClr val="3B82F6"/>
          </a:solidFill>
          <a:ln/>
        </p:spPr>
        <p:txBody>
          <a:bodyPr/>
          <a:p/>
        </p:txBody>
      </p:sp>
      <p:sp>
        <p:nvSpPr>
          <p:cNvPr id="92" name="" descr="{&quot;isTemplate&quot;:true,&quot;type&quot;:&quot;text&quot;}"/>
          <p:cNvSpPr txBox="1"/>
          <p:nvPr/>
        </p:nvSpPr>
        <p:spPr>
          <a:xfrm rot="0" flipH="0" flipV="0">
            <a:off x="1057275" y="3867150"/>
            <a:ext cx="29527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F1F5F9"/>
                </a:solidFill>
                <a:latin typeface="Microsoft YaHei"/>
                <a:ea typeface="Microsoft YaHei"/>
              </a:rPr>
              <a:t>超长卷宗分级装载：摘要</a:t>
            </a:r>
            <a:r>
              <a:rPr lang="en-US" sz="1200">
                <a:solidFill>
                  <a:srgbClr val="F1F5F9"/>
                </a:solidFill>
                <a:latin typeface="Microsoft YaHei"/>
                <a:ea typeface="Microsoft YaHei"/>
              </a:rPr>
              <a:t> + </a:t>
            </a:r>
            <a:r>
              <a:rPr lang="zh-CN" sz="1200">
                <a:solidFill>
                  <a:srgbClr val="F1F5F9"/>
                </a:solidFill>
                <a:latin typeface="Microsoft YaHei"/>
                <a:ea typeface="Microsoft YaHei"/>
              </a:rPr>
              <a:t>原文两级上下文</a:t>
            </a:r>
            <a:endParaRPr/>
          </a:p>
        </p:txBody>
      </p:sp>
      <p:sp>
        <p:nvSpPr>
          <p:cNvPr id="93" name=""/>
          <p:cNvSpPr/>
          <p:nvPr/>
        </p:nvSpPr>
        <p:spPr>
          <a:xfrm rot="0" flipH="0" flipV="0">
            <a:off x="895350" y="4238625"/>
            <a:ext cx="66675" cy="66675"/>
          </a:xfrm>
          <a:prstGeom prst="roundRect">
            <a:avLst>
              <a:gd name="adj" fmla="val 57143"/>
            </a:avLst>
          </a:prstGeom>
          <a:solidFill>
            <a:srgbClr val="94A3B8"/>
          </a:solidFill>
          <a:ln/>
        </p:spPr>
        <p:txBody>
          <a:bodyPr/>
          <a:p/>
        </p:txBody>
      </p:sp>
      <p:sp>
        <p:nvSpPr>
          <p:cNvPr id="94" name="" descr="{&quot;isTemplate&quot;:true,&quot;type&quot;:&quot;text&quot;}"/>
          <p:cNvSpPr txBox="1"/>
          <p:nvPr/>
        </p:nvSpPr>
        <p:spPr>
          <a:xfrm rot="0" flipH="0" flipV="0">
            <a:off x="1057275" y="4171950"/>
            <a:ext cx="296227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94A3B8"/>
                </a:solidFill>
                <a:latin typeface="Microsoft YaHei"/>
                <a:ea typeface="Microsoft YaHei"/>
              </a:rPr>
              <a:t>扫描件</a:t>
            </a:r>
            <a:r>
              <a:rPr lang="en-US" sz="1200">
                <a:solidFill>
                  <a:srgbClr val="94A3B8"/>
                </a:solidFill>
                <a:latin typeface="Microsoft YaHei"/>
                <a:ea typeface="Microsoft YaHei"/>
              </a:rPr>
              <a:t> OCR</a:t>
            </a:r>
            <a:r>
              <a:rPr lang="zh-CN" sz="1200">
                <a:solidFill>
                  <a:srgbClr val="94A3B8"/>
                </a:solidFill>
                <a:latin typeface="Microsoft YaHei"/>
                <a:ea typeface="Microsoft YaHei"/>
              </a:rPr>
              <a:t>：列为探索项，视评审反馈决定</a:t>
            </a:r>
            <a:endParaRPr/>
          </a:p>
        </p:txBody>
      </p:sp>
      <p:sp>
        <p:nvSpPr>
          <p:cNvPr id="95" name=""/>
          <p:cNvSpPr/>
          <p:nvPr/>
        </p:nvSpPr>
        <p:spPr>
          <a:xfrm rot="0" flipH="0" flipV="0">
            <a:off x="6210300" y="2705100"/>
            <a:ext cx="5295900" cy="3295650"/>
          </a:xfrm>
          <a:prstGeom prst="roundRect">
            <a:avLst>
              <a:gd name="adj" fmla="val 3468"/>
            </a:avLst>
          </a:prstGeom>
          <a:solidFill>
            <a:srgbClr val="1E293B"/>
          </a:solidFill>
          <a:ln/>
        </p:spPr>
        <p:txBody>
          <a:bodyPr/>
          <a:p/>
        </p:txBody>
      </p:sp>
      <p:sp>
        <p:nvSpPr>
          <p:cNvPr id="96" name="" descr="{&quot;isTemplate&quot;:true,&quot;type&quot;:&quot;text&quot;}"/>
          <p:cNvSpPr txBox="1"/>
          <p:nvPr/>
        </p:nvSpPr>
        <p:spPr>
          <a:xfrm rot="0" flipH="0" flipV="0">
            <a:off x="6419850" y="2895600"/>
            <a:ext cx="48768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06B6D4"/>
                </a:solidFill>
                <a:latin typeface="Microsoft YaHei"/>
                <a:ea typeface="Microsoft YaHei"/>
              </a:rPr>
              <a:t>原创性声明</a:t>
            </a:r>
            <a:endParaRPr/>
          </a:p>
        </p:txBody>
      </p:sp>
      <p:sp>
        <p:nvSpPr>
          <p:cNvPr id="97" name="" descr="{&quot;isTemplate&quot;:true,&quot;type&quot;:&quot;text&quot;}"/>
          <p:cNvSpPr txBox="1"/>
          <p:nvPr/>
        </p:nvSpPr>
        <p:spPr>
          <a:xfrm rot="0" flipH="0" flipV="0">
            <a:off x="6419850" y="3257550"/>
            <a:ext cx="4876800" cy="12001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5000"/>
              </a:lnSpc>
            </a:pPr>
            <a:r>
              <a:rPr lang="zh-CN" sz="1125">
                <a:solidFill>
                  <a:srgbClr val="94A3B8"/>
                </a:solidFill>
                <a:latin typeface="Microsoft YaHei"/>
                <a:ea typeface="Microsoft YaHei"/>
              </a:rPr>
              <a:t>本作品基于讯飞官方开源</a:t>
            </a:r>
            <a:r>
              <a:rPr lang="en-US" sz="1125">
                <a:solidFill>
                  <a:srgbClr val="94A3B8"/>
                </a:solidFill>
                <a:latin typeface="Microsoft YaHei"/>
                <a:ea typeface="Microsoft YaHei"/>
              </a:rPr>
              <a:t> Spark-X2.5 </a:t>
            </a:r>
            <a:r>
              <a:rPr lang="zh-CN" sz="1125">
                <a:solidFill>
                  <a:srgbClr val="94A3B8"/>
                </a:solidFill>
                <a:latin typeface="Microsoft YaHei"/>
                <a:ea typeface="Microsoft YaHei"/>
              </a:rPr>
              <a:t>模型开发，应用代码为团队原创。</a:t>
            </a:r>
            <a:r>
              <a:rPr lang="en-US" sz="1125">
                <a:solidFill>
                  <a:srgbClr val="94A3B8"/>
                </a:solidFill>
                <a:latin typeface="Microsoft YaHei"/>
                <a:ea typeface="Microsoft YaHei"/>
              </a:rPr>
              <a:t>llama.cpp</a:t>
            </a:r>
            <a:r>
              <a:rPr lang="zh-CN" sz="1125">
                <a:solidFill>
                  <a:srgbClr val="94A3B8"/>
                </a:solidFill>
                <a:latin typeface="Microsoft YaHei"/>
                <a:ea typeface="Microsoft YaHei"/>
              </a:rPr>
              <a:t>（推理）、</a:t>
            </a:r>
            <a:r>
              <a:rPr lang="en-US" sz="1125">
                <a:solidFill>
                  <a:srgbClr val="94A3B8"/>
                </a:solidFill>
                <a:latin typeface="Microsoft YaHei"/>
                <a:ea typeface="Microsoft YaHei"/>
              </a:rPr>
              <a:t>Gradio</a:t>
            </a:r>
            <a:r>
              <a:rPr lang="zh-CN" sz="1125">
                <a:solidFill>
                  <a:srgbClr val="94A3B8"/>
                </a:solidFill>
                <a:latin typeface="Microsoft YaHei"/>
                <a:ea typeface="Microsoft YaHei"/>
              </a:rPr>
              <a:t>（界面）、</a:t>
            </a:r>
            <a:r>
              <a:rPr lang="en-US" sz="1125">
                <a:solidFill>
                  <a:srgbClr val="94A3B8"/>
                </a:solidFill>
                <a:latin typeface="Microsoft YaHei"/>
                <a:ea typeface="Microsoft YaHei"/>
              </a:rPr>
              <a:t>fpdf2</a:t>
            </a:r>
            <a:r>
              <a:rPr lang="zh-CN" sz="1125">
                <a:solidFill>
                  <a:srgbClr val="94A3B8"/>
                </a:solidFill>
                <a:latin typeface="Microsoft YaHei"/>
                <a:ea typeface="Microsoft YaHei"/>
              </a:rPr>
              <a:t>（测试集生成）、</a:t>
            </a:r>
            <a:r>
              <a:rPr lang="en-US" sz="1125">
                <a:solidFill>
                  <a:srgbClr val="94A3B8"/>
                </a:solidFill>
                <a:latin typeface="Microsoft YaHei"/>
                <a:ea typeface="Microsoft YaHei"/>
              </a:rPr>
              <a:t>matplotlib</a:t>
            </a:r>
            <a:r>
              <a:rPr lang="zh-CN" sz="1125">
                <a:solidFill>
                  <a:srgbClr val="94A3B8"/>
                </a:solidFill>
                <a:latin typeface="Microsoft YaHei"/>
                <a:ea typeface="Microsoft YaHei"/>
              </a:rPr>
              <a:t>（图表）等第三方开源组件均如实标注。访谈画像为</a:t>
            </a:r>
            <a:r>
              <a:rPr lang="en-US" sz="1125">
                <a:solidFill>
                  <a:srgbClr val="94A3B8"/>
                </a:solidFill>
                <a:latin typeface="Microsoft YaHei"/>
                <a:ea typeface="Microsoft YaHei"/>
              </a:rPr>
              <a:t> AI </a:t>
            </a:r>
            <a:r>
              <a:rPr lang="zh-CN" sz="1125">
                <a:solidFill>
                  <a:srgbClr val="94A3B8"/>
                </a:solidFill>
                <a:latin typeface="Microsoft YaHei"/>
                <a:ea typeface="Microsoft YaHei"/>
              </a:rPr>
              <a:t>模拟并已标注；全部性能数据来自真机实测，可在仓库复查。</a:t>
            </a:r>
            <a:endParaRPr/>
          </a:p>
        </p:txBody>
      </p:sp>
      <p:sp>
        <p:nvSpPr>
          <p:cNvPr id="98" name="" descr="{&quot;isTemplate&quot;:true,&quot;type&quot;:&quot;text&quot;}"/>
          <p:cNvSpPr txBox="1"/>
          <p:nvPr/>
        </p:nvSpPr>
        <p:spPr>
          <a:xfrm rot="0" flipH="0" flipV="0">
            <a:off x="685800" y="6172200"/>
            <a:ext cx="10820400" cy="190500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zh-CN" sz="1200">
                <a:solidFill>
                  <a:srgbClr val="F1F5F9"/>
                </a:solidFill>
                <a:latin typeface="Microsoft YaHei"/>
                <a:ea typeface="Microsoft YaHei"/>
              </a:rPr>
              <a:t>卷宗——让每一句回答都能回查到页码。谢谢评审！</a:t>
            </a:r>
            <a:endParaRPr/>
          </a:p>
        </p:txBody>
      </p:sp>
      <p:sp>
        <p:nvSpPr>
          <p:cNvPr id="99" name="" descr="{&quot;isTemplate&quot;:true,&quot;type&quot;:&quot;text&quot;}"/>
          <p:cNvSpPr txBox="1"/>
          <p:nvPr/>
        </p:nvSpPr>
        <p:spPr>
          <a:xfrm rot="0" flipH="0" flipV="0">
            <a:off x="685800" y="6457950"/>
            <a:ext cx="17716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94A3B8"/>
                </a:solidFill>
                <a:latin typeface="Microsoft YaHei"/>
                <a:ea typeface="Microsoft YaHei"/>
              </a:rPr>
              <a:t>卷宗</a:t>
            </a:r>
            <a:r>
              <a:rPr lang="en-US" sz="1050">
                <a:solidFill>
                  <a:srgbClr val="94A3B8"/>
                </a:solidFill>
                <a:latin typeface="Microsoft YaHei"/>
                <a:ea typeface="Microsoft YaHei"/>
              </a:rPr>
              <a:t> · Spark-X2.5 </a:t>
            </a:r>
            <a:r>
              <a:rPr lang="zh-CN" sz="1050">
                <a:solidFill>
                  <a:srgbClr val="94A3B8"/>
                </a:solidFill>
                <a:latin typeface="Microsoft YaHei"/>
                <a:ea typeface="Microsoft YaHei"/>
              </a:rPr>
              <a:t>端侧挑战赛</a:t>
            </a:r>
            <a:endParaRPr/>
          </a:p>
        </p:txBody>
      </p:sp>
      <p:sp>
        <p:nvSpPr>
          <p:cNvPr id="100" name="" descr="{&quot;isTemplate&quot;:true,&quot;type&quot;:&quot;text&quot;}"/>
          <p:cNvSpPr txBox="1"/>
          <p:nvPr/>
        </p:nvSpPr>
        <p:spPr>
          <a:xfrm rot="0" flipH="0" flipV="0">
            <a:off x="11049000" y="645795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94A3B8"/>
                </a:solidFill>
                <a:latin typeface="Microsoft YaHei"/>
                <a:ea typeface="Microsoft YaHei"/>
              </a:rPr>
              <a:t>12 / 12</a:t>
            </a:r>
            <a:endParaRPr/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Tencent office</Applicat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2026-09-20T18:05:02Z</dcterms:created>
  <dcterms:modified xsi:type="dcterms:W3CDTF">2026-09-20T18:05:02Z</dcterms:modified>
</cp:coreProperties>
</file>